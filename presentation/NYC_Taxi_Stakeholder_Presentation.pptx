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f32353d352d4d8f" /><Relationship Type="http://schemas.openxmlformats.org/officeDocument/2006/relationships/extended-properties" Target="/docProps/app.xml" Id="R749569c602f542a0" /><Relationship Type="http://schemas.openxmlformats.org/officeDocument/2006/relationships/officeDocument" Target="/ppt/presentation.xml" Id="R5b8ab2898ab64ab8" /></Relationships>
</file>

<file path=ppt/presentation.xml><?xml version="1.0" encoding="utf-8"?>
<p:presentation xmlns:p="http://schemas.openxmlformats.org/presentationml/2006/main">
  <p:sldMasterIdLst>
    <p:sldMasterId xmlns:r="http://schemas.openxmlformats.org/officeDocument/2006/relationships" id="2147483648" r:id="Rfe5cd25c1c1f46b5"/>
  </p:sldMasterIdLst>
  <p:notesMasterIdLst>
    <p:notesMasterId xmlns:r="http://schemas.openxmlformats.org/officeDocument/2006/relationships" r:id="R4b311b4c8de64693"/>
  </p:notesMasterIdLst>
  <p:sldIdLst>
    <p:sldId xmlns:r="http://schemas.openxmlformats.org/officeDocument/2006/relationships" id="256" r:id="R3330d96fa7ad47c6"/>
    <p:sldId xmlns:r="http://schemas.openxmlformats.org/officeDocument/2006/relationships" id="257" r:id="R27f085bf5a994ef3"/>
    <p:sldId xmlns:r="http://schemas.openxmlformats.org/officeDocument/2006/relationships" id="258" r:id="R848fea83e1474be6"/>
    <p:sldId xmlns:r="http://schemas.openxmlformats.org/officeDocument/2006/relationships" id="259" r:id="R1810dd9166a945be"/>
    <p:sldId xmlns:r="http://schemas.openxmlformats.org/officeDocument/2006/relationships" id="260" r:id="R74f8cd581a0846c3"/>
    <p:sldId xmlns:r="http://schemas.openxmlformats.org/officeDocument/2006/relationships" id="261" r:id="Rdbf2e5c8a11f4e09"/>
    <p:sldId xmlns:r="http://schemas.openxmlformats.org/officeDocument/2006/relationships" id="262" r:id="Rabe050e4054a4564"/>
    <p:sldId xmlns:r="http://schemas.openxmlformats.org/officeDocument/2006/relationships" id="263" r:id="R7f85d81fddf847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2a7c0338e54e68" /><Relationship Type="http://schemas.openxmlformats.org/officeDocument/2006/relationships/slideMaster" Target="/ppt/slideMasters/slideMaster1.xml" Id="Rfe5cd25c1c1f46b5" /><Relationship Type="http://schemas.openxmlformats.org/officeDocument/2006/relationships/notesMaster" Target="/ppt/notesMasters/notesMaster1.xml" Id="R4b311b4c8de64693" /><Relationship Type="http://schemas.openxmlformats.org/officeDocument/2006/relationships/presProps" Target="/ppt/presProps.xml" Id="R559487b7cdf34e0e" /><Relationship Type="http://schemas.openxmlformats.org/officeDocument/2006/relationships/tableStyles" Target="/ppt/tableStyles.xml" Id="R0bdd335599cf455b" /><Relationship Type="http://schemas.openxmlformats.org/officeDocument/2006/relationships/slide" Target="/ppt/slides/slide1.xml" Id="R3330d96fa7ad47c6" /><Relationship Type="http://schemas.openxmlformats.org/officeDocument/2006/relationships/slide" Target="/ppt/slides/slide2.xml" Id="R27f085bf5a994ef3" /><Relationship Type="http://schemas.openxmlformats.org/officeDocument/2006/relationships/slide" Target="/ppt/slides/slide3.xml" Id="R848fea83e1474be6" /><Relationship Type="http://schemas.openxmlformats.org/officeDocument/2006/relationships/slide" Target="/ppt/slides/slide4.xml" Id="R1810dd9166a945be" /><Relationship Type="http://schemas.openxmlformats.org/officeDocument/2006/relationships/slide" Target="/ppt/slides/slide5.xml" Id="R74f8cd581a0846c3" /><Relationship Type="http://schemas.openxmlformats.org/officeDocument/2006/relationships/slide" Target="/ppt/slides/slide6.xml" Id="Rdbf2e5c8a11f4e09" /><Relationship Type="http://schemas.openxmlformats.org/officeDocument/2006/relationships/slide" Target="/ppt/slides/slide7.xml" Id="Rabe050e4054a4564" /><Relationship Type="http://schemas.openxmlformats.org/officeDocument/2006/relationships/slide" Target="/ppt/slides/slide8.xml" Id="R7f85d81fddf847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24c94747854b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6b66d88a2c46e9" /><Relationship Type="http://schemas.openxmlformats.org/officeDocument/2006/relationships/notesMaster" Target="/ppt/notesMasters/notesMaster1.xml" Id="R185bb7b1949a44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ed4c5ab55b4414" /><Relationship Type="http://schemas.openxmlformats.org/officeDocument/2006/relationships/notesMaster" Target="/ppt/notesMasters/notesMaster1.xml" Id="R8e74da3c362548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e8de38abee4b80" /><Relationship Type="http://schemas.openxmlformats.org/officeDocument/2006/relationships/notesMaster" Target="/ppt/notesMasters/notesMaster1.xml" Id="R90ae75c8cfe248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13ae85b2654ec0" /><Relationship Type="http://schemas.openxmlformats.org/officeDocument/2006/relationships/notesMaster" Target="/ppt/notesMasters/notesMaster1.xml" Id="R095086a34c8e4e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49367c1ec04ca5" /><Relationship Type="http://schemas.openxmlformats.org/officeDocument/2006/relationships/notesMaster" Target="/ppt/notesMasters/notesMaster1.xml" Id="R34dafc627b2449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631ffb17eb4da1" /><Relationship Type="http://schemas.openxmlformats.org/officeDocument/2006/relationships/notesMaster" Target="/ppt/notesMasters/notesMaster1.xml" Id="R6e2dabcc23a14a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2256b4fc4e4f6f" /><Relationship Type="http://schemas.openxmlformats.org/officeDocument/2006/relationships/notesMaster" Target="/ppt/notesMasters/notesMaster1.xml" Id="R46fbe70e262948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1eaacabc894fc8" /><Relationship Type="http://schemas.openxmlformats.org/officeDocument/2006/relationships/notesMaster" Target="/ppt/notesMasters/notesMaster1.xml" Id="Ref61763a47e84c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request agreement on a small coverage pilot, conditional on additional operating data and validation across recent months. January records cover the market, not one company.</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 staging retains January pickups and flags nonpositive duration/distance, distance above 500 miles, and invalid payment amounts. The 500-mile threshold is a project rule, not an official TLC validity rule. Null handling and residual outliers remain limitations. Passenger counts are missing on 28.3% of eligible trips. Do not describe this dataset as perfectly clean.</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the ten busiest zones for readability. The 45.8% headline uses the top fifteen. All figures use the eligible population. High volume can coexist with high taxi supply, so it does not prove that additional taxis will earn more.</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value averages the hour across January dates. All 24 citywide hours have 31 observed dates in this dataset. The peak is about 7,408 trips from 18:00 to 18:59, not per driver. Avoid converting market activity into a fleet-size requirement without supply and utilization data.</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five zones ranked by monthly trips. The peak is the hour with the highest monthly pickup count. Ties use the earliest hour. Average pickups divide by all 31 calendar days, including zero-trip days. These figures differ conceptually from the active-day heatmap. Proposed action: test shift overlaps, not blanket repositioning.</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JFK and LaGuardia use pickup IDs 132 and 138. Other pickup zones includes every eligible pickup outside those IDs. Segments are mutually exclusive. Payment uses total_amount. Cash tips may be absent, and payment is not net earnings. Waiting time, empty returns and costs are missing. Do not rank profitability from payment per trip alone.</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January 25 recorded 43,552 eligible trips versus 115,420 on January 18, a drop of about 62.3%. Earlier raw-data checks found the decline before filtering too. This presentation does not assign a weather or event cause. Check source coverage and external conditions before making lasting staffing changes.</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not a measured result. Operations and analytics agree sample requirements and economically meaningful success criteria before launch. Use comparable shifts or randomized assignment where feasible. Adjust for weekday, weather and events. Evaluate confidence intervals and service guardrails. No numerical uplift target is implied by these taxi records.</a:t>
            </a:r>
          </a:p>
          <a:p xmlns:a="http://schemas.openxmlformats.org/drawingml/2006/main">
            <a:r>
              <a:t>Source: NYC TLC January 2026 yellow taxi trips. Reproducible SQL and values: docs/analysis_evidence.json. https://www.nyc.gov/site/tlc/about/tlc-trip-record-data.page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a99df8cbea4b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8646b5e4e949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a0fd86e70548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527acee9b548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d03f94777447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4d7d29e08141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35C5DF-3BC3-46E8-86BF-1E9014D406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0D9FEF-BF49-4F61-9594-3698E7B093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BFF0C7-33FE-44CE-B821-A59CB9E4C7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AF826B-FEE1-4DF2-9427-0CBD255E8B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9C765B-F3DE-4A0B-89E3-A1975AF100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C3A0E0-0AC2-4CDB-859D-1B952C783B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71C111-2CC5-44CF-8225-1D82619522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75DF7C-EF8A-48BC-AAE6-293624BB98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BD0C02-2954-43AD-AFC6-C907398D3A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7A2FCD-B16B-4668-8F6A-C22416B241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d3cab66f38436d" /><Relationship Type="http://schemas.openxmlformats.org/officeDocument/2006/relationships/slideLayout" Target="/ppt/slideLayouts/slideLayout1.xml" Id="R1cab8bd4a4d54900" /><Relationship Type="http://schemas.openxmlformats.org/officeDocument/2006/relationships/slideLayout" Target="/ppt/slideLayouts/slideLayout2.xml" Id="Rbf766321023e469b" /><Relationship Type="http://schemas.openxmlformats.org/officeDocument/2006/relationships/slideLayout" Target="/ppt/slideLayouts/slideLayout3.xml" Id="Rf9e06a3557194b92" /><Relationship Type="http://schemas.openxmlformats.org/officeDocument/2006/relationships/slideLayout" Target="/ppt/slideLayouts/slideLayout4.xml" Id="R4095f51529d740ef" /><Relationship Type="http://schemas.openxmlformats.org/officeDocument/2006/relationships/slideLayout" Target="/ppt/slideLayouts/slideLayout5.xml" Id="Ra3f936ac70584a4f" /><Relationship Type="http://schemas.openxmlformats.org/officeDocument/2006/relationships/slideLayout" Target="/ppt/slideLayouts/slideLayout6.xml" Id="Rdcdfc6572a7146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ab8bd4a4d54900"/>
    <p:sldLayoutId xmlns:r="http://schemas.openxmlformats.org/officeDocument/2006/relationships" id="2147483650" r:id="Rbf766321023e469b"/>
    <p:sldLayoutId xmlns:r="http://schemas.openxmlformats.org/officeDocument/2006/relationships" id="2147483651" r:id="Rf9e06a3557194b92"/>
    <p:sldLayoutId xmlns:r="http://schemas.openxmlformats.org/officeDocument/2006/relationships" id="2147483652" r:id="R4095f51529d740ef"/>
    <p:sldLayoutId xmlns:r="http://schemas.openxmlformats.org/officeDocument/2006/relationships" id="2147483653" r:id="Ra3f936ac70584a4f"/>
    <p:sldLayoutId xmlns:r="http://schemas.openxmlformats.org/officeDocument/2006/relationships" id="2147483654" r:id="Rdcdfc6572a7146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9948f03f7e4246" /><Relationship Type="http://schemas.openxmlformats.org/officeDocument/2006/relationships/notesSlide" Target="/ppt/notesSlides/notesSlide1.xml" Id="R508a92dea7924a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7c37ed22db466f" /><Relationship Type="http://schemas.openxmlformats.org/officeDocument/2006/relationships/notesSlide" Target="/ppt/notesSlides/notesSlide2.xml" Id="R2539050d2cb74d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54172c76b646e4" /><Relationship Type="http://schemas.openxmlformats.org/officeDocument/2006/relationships/chart" Target="/ppt/slides/charts/chart1.xml" Id="R7e73f25f7bfa45e3" /><Relationship Type="http://schemas.openxmlformats.org/officeDocument/2006/relationships/notesSlide" Target="/ppt/notesSlides/notesSlide3.xml" Id="R6e2b339aea1f44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6e9b6199594330" /><Relationship Type="http://schemas.openxmlformats.org/officeDocument/2006/relationships/chart" Target="/ppt/slides/charts/chart2.xml" Id="R526b27e708f4476c" /><Relationship Type="http://schemas.openxmlformats.org/officeDocument/2006/relationships/notesSlide" Target="/ppt/notesSlides/notesSlide4.xml" Id="R1f9b8be8abd944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474daecffd41f0" /><Relationship Type="http://schemas.openxmlformats.org/officeDocument/2006/relationships/notesSlide" Target="/ppt/notesSlides/notesSlide5.xml" Id="Re66b0303a2894d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d4c234d4824216" /><Relationship Type="http://schemas.openxmlformats.org/officeDocument/2006/relationships/notesSlide" Target="/ppt/notesSlides/notesSlide6.xml" Id="Rae482ffbb9d84f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48cd9fa49e43f2" /><Relationship Type="http://schemas.openxmlformats.org/officeDocument/2006/relationships/chart" Target="/ppt/slides/charts/chart3.xml" Id="R3f7a6b379fa24746" /><Relationship Type="http://schemas.openxmlformats.org/officeDocument/2006/relationships/notesSlide" Target="/ppt/notesSlides/notesSlide7.xml" Id="Rc1fef62be4714c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d99339064004833" /><Relationship Type="http://schemas.openxmlformats.org/officeDocument/2006/relationships/notesSlide" Target="/ppt/notesSlides/notesSlide8.xml" Id="Re06f7bf19fcf41a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varyColors val="0"/>
        <c:ser>
          <c:idx val="0"/>
          <c:order val="0"/>
          <c:tx>
            <c:v>January eligible trips</c:v>
          </c:tx>
          <c:spPr>
            <a:solidFill xmlns:a="http://schemas.openxmlformats.org/drawingml/2006/main">
              <a:srgbClr val="087F8C"/>
            </a:solidFill>
            <a:ln xmlns:a="http://schemas.openxmlformats.org/drawingml/2006/main" w="28575">
              <a:solidFill>
                <a:srgbClr val="087F8C"/>
              </a:solidFill>
            </a:ln>
          </c:spPr>
          <c:invertIfNegative val="0"/>
          <c:cat>
            <c:strRef>
              <c:f>'Chart Data'!$A$2:$A$11</c:f>
              <c:strCache>
                <c:ptCount val="10"/>
                <c:pt idx="0">
                  <c:v>Upper West Side South</c:v>
                </c:pt>
                <c:pt idx="1">
                  <c:v>East Village</c:v>
                </c:pt>
                <c:pt idx="2">
                  <c:v>Times Sq/Theatre District</c:v>
                </c:pt>
                <c:pt idx="3">
                  <c:v>Midtown East</c:v>
                </c:pt>
                <c:pt idx="4">
                  <c:v>Lincoln Square East</c:v>
                </c:pt>
                <c:pt idx="5">
                  <c:v>Penn Station/Madison Sq West</c:v>
                </c:pt>
                <c:pt idx="6">
                  <c:v>Midtown Center</c:v>
                </c:pt>
                <c:pt idx="7">
                  <c:v>JFK Airport</c:v>
                </c:pt>
                <c:pt idx="8">
                  <c:v>Upper East Side North</c:v>
                </c:pt>
                <c:pt idx="9">
                  <c:v>Upper East Side South</c:v>
                </c:pt>
              </c:strCache>
            </c:strRef>
          </c:cat>
          <c:val>
            <c:numRef>
              <c:f>'Chart Data'!$B$2:$B$11</c:f>
              <c:numCache>
                <c:formatCode>#,##0</c:formatCode>
                <c:ptCount val="10"/>
                <c:pt idx="0">
                  <c:v>92430</c:v>
                </c:pt>
                <c:pt idx="1">
                  <c:v>96395</c:v>
                </c:pt>
                <c:pt idx="2">
                  <c:v>100858</c:v>
                </c:pt>
                <c:pt idx="3">
                  <c:v>103682</c:v>
                </c:pt>
                <c:pt idx="4">
                  <c:v>104681</c:v>
                </c:pt>
                <c:pt idx="5">
                  <c:v>105646</c:v>
                </c:pt>
                <c:pt idx="6">
                  <c:v>139235</c:v>
                </c:pt>
                <c:pt idx="7">
                  <c:v>141612</c:v>
                </c:pt>
                <c:pt idx="8">
                  <c:v>145711</c:v>
                </c:pt>
                <c:pt idx="9">
                  <c:v>152530</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1"/>
                </a:solidFill>
                <a:latin typeface="Helvetica Neue"/>
                <a:ea typeface="Helvetica Neue"/>
                <a:cs typeface="Helvetica Neue"/>
              </a:defRPr>
            </a:pPr>
          </a:p>
        </c:txPr>
        <c:crossAx val="48672768"/>
      </c:catAx>
      <c:valAx>
        <c:axId val="48672768"/>
        <c:scaling>
          <c:orientation val="minMax"/>
          <c:min val="0"/>
        </c:scaling>
        <c:delete val="0"/>
        <c:axPos val="b"/>
        <c:majorGridlines>
          <c:spPr>
            <a:ln xmlns:a="http://schemas.openxmlformats.org/drawingml/2006/main" w="9525">
              <a:solidFill>
                <a:srgbClr val="DDE4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1"/>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Average trips in hour per day</c:v>
          </c:tx>
          <c:spPr>
            <a:solidFill xmlns:a="http://schemas.openxmlformats.org/drawingml/2006/main">
              <a:srgbClr val="087F8C"/>
            </a:solidFill>
            <a:ln xmlns:a="http://schemas.openxmlformats.org/drawingml/2006/main" w="28575">
              <a:solidFill>
                <a:srgbClr val="087F8C"/>
              </a:solidFill>
            </a:ln>
          </c:spPr>
          <c:invertIfNegative val="0"/>
          <c:cat>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3498.13</c:v>
                </c:pt>
                <c:pt idx="1">
                  <c:v>2426.71</c:v>
                </c:pt>
                <c:pt idx="2">
                  <c:v>1683.16</c:v>
                </c:pt>
                <c:pt idx="3">
                  <c:v>1202.13</c:v>
                </c:pt>
                <c:pt idx="4">
                  <c:v>889.06</c:v>
                </c:pt>
                <c:pt idx="5">
                  <c:v>1024.9</c:v>
                </c:pt>
                <c:pt idx="6">
                  <c:v>1994.52</c:v>
                </c:pt>
                <c:pt idx="7">
                  <c:v>3555.42</c:v>
                </c:pt>
                <c:pt idx="8">
                  <c:v>4638.03</c:v>
                </c:pt>
                <c:pt idx="9">
                  <c:v>4895.68</c:v>
                </c:pt>
                <c:pt idx="10">
                  <c:v>5029.45</c:v>
                </c:pt>
                <c:pt idx="11">
                  <c:v>5349.35</c:v>
                </c:pt>
                <c:pt idx="12">
                  <c:v>5836.42</c:v>
                </c:pt>
                <c:pt idx="13">
                  <c:v>6084.77</c:v>
                </c:pt>
                <c:pt idx="14">
                  <c:v>6448.26</c:v>
                </c:pt>
                <c:pt idx="15">
                  <c:v>6888.94</c:v>
                </c:pt>
                <c:pt idx="16">
                  <c:v>6565.29</c:v>
                </c:pt>
                <c:pt idx="17">
                  <c:v>7133.84</c:v>
                </c:pt>
                <c:pt idx="18">
                  <c:v>7408.35</c:v>
                </c:pt>
                <c:pt idx="19">
                  <c:v>6739.68</c:v>
                </c:pt>
                <c:pt idx="20">
                  <c:v>6658.16</c:v>
                </c:pt>
                <c:pt idx="21">
                  <c:v>6650.03</c:v>
                </c:pt>
                <c:pt idx="22">
                  <c:v>6101.06</c:v>
                </c:pt>
                <c:pt idx="23">
                  <c:v>4775.26</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1"/>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DE4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1"/>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Daily eligible trips</c:v>
          </c:tx>
          <c:spPr>
            <a:solidFill xmlns:a="http://schemas.openxmlformats.org/drawingml/2006/main">
              <a:srgbClr val="087F8C"/>
            </a:solidFill>
            <a:ln xmlns:a="http://schemas.openxmlformats.org/drawingml/2006/main" w="28575">
              <a:solidFill>
                <a:srgbClr val="087F8C"/>
              </a:solidFill>
            </a:ln>
          </c:spPr>
          <c:marker>
            <c:symbol val="none"/>
          </c:marker>
          <c:cat>
            <c:numRef>
              <c:f>'Chart Data'!$A$2:$A$32</c:f>
              <c:numCache>
                <c:formatCode>General</c:formatCod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cat>
          <c:val>
            <c:numRef>
              <c:f>'Chart Data'!$B$2:$B$32</c:f>
              <c:numCache>
                <c:formatCode>#,##0</c:formatCode>
                <c:ptCount val="31"/>
                <c:pt idx="0">
                  <c:v>107000</c:v>
                </c:pt>
                <c:pt idx="1">
                  <c:v>93439</c:v>
                </c:pt>
                <c:pt idx="2">
                  <c:v>104538</c:v>
                </c:pt>
                <c:pt idx="3">
                  <c:v>89937</c:v>
                </c:pt>
                <c:pt idx="4">
                  <c:v>91584</c:v>
                </c:pt>
                <c:pt idx="5">
                  <c:v>101758</c:v>
                </c:pt>
                <c:pt idx="6">
                  <c:v>106660</c:v>
                </c:pt>
                <c:pt idx="7">
                  <c:v>112830</c:v>
                </c:pt>
                <c:pt idx="8">
                  <c:v>116342</c:v>
                </c:pt>
                <c:pt idx="9">
                  <c:v>140749</c:v>
                </c:pt>
                <c:pt idx="10">
                  <c:v>111918</c:v>
                </c:pt>
                <c:pt idx="11">
                  <c:v>106218</c:v>
                </c:pt>
                <c:pt idx="12">
                  <c:v>116043</c:v>
                </c:pt>
                <c:pt idx="13">
                  <c:v>122341</c:v>
                </c:pt>
                <c:pt idx="14">
                  <c:v>132652</c:v>
                </c:pt>
                <c:pt idx="15">
                  <c:v>125612</c:v>
                </c:pt>
                <c:pt idx="16">
                  <c:v>124031</c:v>
                </c:pt>
                <c:pt idx="17">
                  <c:v>115420</c:v>
                </c:pt>
                <c:pt idx="18">
                  <c:v>93514</c:v>
                </c:pt>
                <c:pt idx="19">
                  <c:v>122149</c:v>
                </c:pt>
                <c:pt idx="20">
                  <c:v>122195</c:v>
                </c:pt>
                <c:pt idx="21">
                  <c:v>128056</c:v>
                </c:pt>
                <c:pt idx="22">
                  <c:v>134287</c:v>
                </c:pt>
                <c:pt idx="23">
                  <c:v>140847</c:v>
                </c:pt>
                <c:pt idx="24">
                  <c:v>43552</c:v>
                </c:pt>
                <c:pt idx="25">
                  <c:v>62988</c:v>
                </c:pt>
                <c:pt idx="26">
                  <c:v>113045</c:v>
                </c:pt>
                <c:pt idx="27">
                  <c:v>122982</c:v>
                </c:pt>
                <c:pt idx="28">
                  <c:v>134025</c:v>
                </c:pt>
                <c:pt idx="29">
                  <c:v>140856</c:v>
                </c:pt>
                <c:pt idx="30">
                  <c:v>140207</c:v>
                </c:pt>
              </c:numCache>
            </c:numRef>
          </c:val>
          <c:smooth val="0"/>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1"/>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DE4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1"/>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6867BC-4CD3-4AAC-9E16-E99DADB9840E}"/>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NYC taxi coverage decisions</a:t>
            </a:r>
          </a:p>
        </p:txBody>
      </p:sp>
      <p:sp>
        <p:nvSpPr>
          <p:cNvPr id="2" name="">
            <a:extLst xmlns:a="http://schemas.openxmlformats.org/drawingml/2006/main">
              <a:ext uri="{FF2B5EF4-FFF2-40B4-BE49-F238E27FC236}">
                <a16:creationId xmlns:a16="http://schemas.microsoft.com/office/drawing/2014/main" id="{1E3E7B30-67B0-4781-99AB-690C51D2A639}"/>
              </a:ext>
            </a:extLst>
          </p:cNvPr>
          <p:cNvSpPr>
            <a:spLocks xmlns:a="http://schemas.openxmlformats.org/drawingml/2006/main" noGrp="1"/>
          </p:cNvSpPr>
          <p:nvPr/>
        </p:nvSpPr>
        <p:spPr>
          <a:xfrm xmlns:a="http://schemas.openxmlformats.org/drawingml/2006/main">
            <a:off x="533400" y="2000250"/>
            <a:ext cx="1095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18384B"/>
                </a:solidFill>
                <a:latin typeface="Helvetica Neue"/>
                <a:ea typeface="Helvetica Neue"/>
                <a:cs typeface="Helvetica Neue"/>
              </a:defRPr>
            </a:defPPr>
            <a:lvl1pPr>
              <a:defRPr sz="4200" b="1">
                <a:solidFill>
                  <a:srgbClr val="18384B"/>
                </a:solidFill>
                <a:latin typeface="Helvetica Neue"/>
                <a:ea typeface="Helvetica Neue"/>
                <a:cs typeface="Helvetica Neue"/>
              </a:defRPr>
            </a:lvl1pPr>
            <a:lvl2pPr>
              <a:defRPr sz="4200" b="1">
                <a:solidFill>
                  <a:srgbClr val="18384B"/>
                </a:solidFill>
                <a:latin typeface="Helvetica Neue"/>
                <a:ea typeface="Helvetica Neue"/>
                <a:cs typeface="Helvetica Neue"/>
              </a:defRPr>
            </a:lvl2pPr>
            <a:lvl3pPr>
              <a:defRPr sz="4200" b="1">
                <a:solidFill>
                  <a:srgbClr val="18384B"/>
                </a:solidFill>
                <a:latin typeface="Helvetica Neue"/>
                <a:ea typeface="Helvetica Neue"/>
                <a:cs typeface="Helvetica Neue"/>
              </a:defRPr>
            </a:lvl3pPr>
            <a:lvl4pPr>
              <a:defRPr sz="4200" b="1">
                <a:solidFill>
                  <a:srgbClr val="18384B"/>
                </a:solidFill>
                <a:latin typeface="Helvetica Neue"/>
                <a:ea typeface="Helvetica Neue"/>
                <a:cs typeface="Helvetica Neue"/>
              </a:defRPr>
            </a:lvl4pPr>
            <a:lvl5pPr>
              <a:defRPr sz="4200" b="1">
                <a:solidFill>
                  <a:srgbClr val="18384B"/>
                </a:solidFill>
                <a:latin typeface="Helvetica Neue"/>
                <a:ea typeface="Helvetica Neue"/>
                <a:cs typeface="Helvetica Neue"/>
              </a:defRPr>
            </a:lvl5pPr>
            <a:lvl6pPr>
              <a:defRPr sz="4200" b="1">
                <a:solidFill>
                  <a:srgbClr val="18384B"/>
                </a:solidFill>
                <a:latin typeface="Helvetica Neue"/>
                <a:ea typeface="Helvetica Neue"/>
                <a:cs typeface="Helvetica Neue"/>
              </a:defRPr>
            </a:lvl6pPr>
            <a:lvl7pPr>
              <a:defRPr sz="4200" b="1">
                <a:solidFill>
                  <a:srgbClr val="18384B"/>
                </a:solidFill>
                <a:latin typeface="Helvetica Neue"/>
                <a:ea typeface="Helvetica Neue"/>
                <a:cs typeface="Helvetica Neue"/>
              </a:defRPr>
            </a:lvl7pPr>
            <a:lvl8pPr>
              <a:defRPr sz="4200" b="1">
                <a:solidFill>
                  <a:srgbClr val="18384B"/>
                </a:solidFill>
                <a:latin typeface="Helvetica Neue"/>
                <a:ea typeface="Helvetica Neue"/>
                <a:cs typeface="Helvetica Neue"/>
              </a:defRPr>
            </a:lvl8pPr>
            <a:lvl9pPr>
              <a:defRPr sz="4200" b="1">
                <a:solidFill>
                  <a:srgbClr val="18384B"/>
                </a:solidFill>
                <a:latin typeface="Helvetica Neue"/>
                <a:ea typeface="Helvetica Neue"/>
                <a:cs typeface="Helvetica Neue"/>
              </a:defRPr>
            </a:lvl9pPr>
          </a:lstStyle>
          <a:p xmlns:a="http://schemas.openxmlformats.org/drawingml/2006/main">
            <a:pPr>
              <a:defRPr sz="4200" b="1">
                <a:solidFill>
                  <a:srgbClr val="18384B"/>
                </a:solidFill>
                <a:latin typeface="Helvetica Neue"/>
                <a:ea typeface="Helvetica Neue"/>
                <a:cs typeface="Helvetica Neue"/>
              </a:defRPr>
            </a:pPr>
            <a:r>
              <a:rPr sz="4200" b="1">
                <a:solidFill>
                  <a:srgbClr val="18384B"/>
                </a:solidFill>
                <a:latin typeface="Helvetica Neue"/>
                <a:ea typeface="Helvetica Neue"/>
                <a:cs typeface="Helvetica Neue"/>
              </a:rPr>
              <a:t>Where and when should a fleet</a:t>
            </a:r>
          </a:p>
          <a:p xmlns:a="http://schemas.openxmlformats.org/drawingml/2006/main">
            <a:pPr>
              <a:defRPr sz="4200" b="1">
                <a:solidFill>
                  <a:srgbClr val="18384B"/>
                </a:solidFill>
                <a:latin typeface="Helvetica Neue"/>
                <a:ea typeface="Helvetica Neue"/>
                <a:cs typeface="Helvetica Neue"/>
              </a:defRPr>
            </a:pPr>
            <a:r>
              <a:rPr sz="4200" b="1">
                <a:solidFill>
                  <a:srgbClr val="18384B"/>
                </a:solidFill>
                <a:latin typeface="Helvetica Neue"/>
                <a:ea typeface="Helvetica Neue"/>
                <a:cs typeface="Helvetica Neue"/>
              </a:rPr>
              <a:t>test different driver coverage?</a:t>
            </a:r>
          </a:p>
        </p:txBody>
      </p:sp>
      <p:sp>
        <p:nvSpPr>
          <p:cNvPr id="3" name="">
            <a:extLst xmlns:a="http://schemas.openxmlformats.org/drawingml/2006/main">
              <a:ext uri="{FF2B5EF4-FFF2-40B4-BE49-F238E27FC236}">
                <a16:creationId xmlns:a16="http://schemas.microsoft.com/office/drawing/2014/main" id="{A279AA95-590E-4985-9A67-F8403F37B45A}"/>
              </a:ext>
            </a:extLst>
          </p:cNvPr>
          <p:cNvSpPr>
            <a:spLocks xmlns:a="http://schemas.openxmlformats.org/drawingml/2006/main" noGrp="1"/>
          </p:cNvSpPr>
          <p:nvPr/>
        </p:nvSpPr>
        <p:spPr>
          <a:xfrm xmlns:a="http://schemas.openxmlformats.org/drawingml/2006/main">
            <a:off x="533400" y="4333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36471"/>
                </a:solidFill>
                <a:latin typeface="Helvetica Neue"/>
                <a:ea typeface="Helvetica Neue"/>
                <a:cs typeface="Helvetica Neue"/>
              </a:defRPr>
            </a:defPPr>
            <a:lvl1pPr>
              <a:defRPr sz="2100" b="0">
                <a:solidFill>
                  <a:srgbClr val="536471"/>
                </a:solidFill>
                <a:latin typeface="Helvetica Neue"/>
                <a:ea typeface="Helvetica Neue"/>
                <a:cs typeface="Helvetica Neue"/>
              </a:defRPr>
            </a:lvl1pPr>
            <a:lvl2pPr>
              <a:defRPr sz="2100" b="0">
                <a:solidFill>
                  <a:srgbClr val="536471"/>
                </a:solidFill>
                <a:latin typeface="Helvetica Neue"/>
                <a:ea typeface="Helvetica Neue"/>
                <a:cs typeface="Helvetica Neue"/>
              </a:defRPr>
            </a:lvl2pPr>
            <a:lvl3pPr>
              <a:defRPr sz="2100" b="0">
                <a:solidFill>
                  <a:srgbClr val="536471"/>
                </a:solidFill>
                <a:latin typeface="Helvetica Neue"/>
                <a:ea typeface="Helvetica Neue"/>
                <a:cs typeface="Helvetica Neue"/>
              </a:defRPr>
            </a:lvl3pPr>
            <a:lvl4pPr>
              <a:defRPr sz="2100" b="0">
                <a:solidFill>
                  <a:srgbClr val="536471"/>
                </a:solidFill>
                <a:latin typeface="Helvetica Neue"/>
                <a:ea typeface="Helvetica Neue"/>
                <a:cs typeface="Helvetica Neue"/>
              </a:defRPr>
            </a:lvl4pPr>
            <a:lvl5pPr>
              <a:defRPr sz="2100" b="0">
                <a:solidFill>
                  <a:srgbClr val="536471"/>
                </a:solidFill>
                <a:latin typeface="Helvetica Neue"/>
                <a:ea typeface="Helvetica Neue"/>
                <a:cs typeface="Helvetica Neue"/>
              </a:defRPr>
            </a:lvl5pPr>
            <a:lvl6pPr>
              <a:defRPr sz="2100" b="0">
                <a:solidFill>
                  <a:srgbClr val="536471"/>
                </a:solidFill>
                <a:latin typeface="Helvetica Neue"/>
                <a:ea typeface="Helvetica Neue"/>
                <a:cs typeface="Helvetica Neue"/>
              </a:defRPr>
            </a:lvl6pPr>
            <a:lvl7pPr>
              <a:defRPr sz="2100" b="0">
                <a:solidFill>
                  <a:srgbClr val="536471"/>
                </a:solidFill>
                <a:latin typeface="Helvetica Neue"/>
                <a:ea typeface="Helvetica Neue"/>
                <a:cs typeface="Helvetica Neue"/>
              </a:defRPr>
            </a:lvl7pPr>
            <a:lvl8pPr>
              <a:defRPr sz="2100" b="0">
                <a:solidFill>
                  <a:srgbClr val="536471"/>
                </a:solidFill>
                <a:latin typeface="Helvetica Neue"/>
                <a:ea typeface="Helvetica Neue"/>
                <a:cs typeface="Helvetica Neue"/>
              </a:defRPr>
            </a:lvl8pPr>
            <a:lvl9pPr>
              <a:defRPr sz="2100" b="0">
                <a:solidFill>
                  <a:srgbClr val="536471"/>
                </a:solidFill>
                <a:latin typeface="Helvetica Neue"/>
                <a:ea typeface="Helvetica Neue"/>
                <a:cs typeface="Helvetica Neue"/>
              </a:defRPr>
            </a:lvl9pPr>
          </a:lstStyle>
          <a:p xmlns:a="http://schemas.openxmlformats.org/drawingml/2006/main">
            <a:pPr>
              <a:defRPr sz="2100" b="0">
                <a:solidFill>
                  <a:srgbClr val="536471"/>
                </a:solidFill>
                <a:latin typeface="Helvetica Neue"/>
                <a:ea typeface="Helvetica Neue"/>
                <a:cs typeface="Helvetica Neue"/>
              </a:defRPr>
            </a:pPr>
            <a:r>
              <a:rPr sz="2100" b="0">
                <a:solidFill>
                  <a:srgbClr val="536471"/>
                </a:solidFill>
                <a:latin typeface="Helvetica Neue"/>
                <a:ea typeface="Helvetica Neue"/>
                <a:cs typeface="Helvetica Neue"/>
              </a:rPr>
              <a:t>January 2026 yellow taxi analysis</a:t>
            </a:r>
          </a:p>
          <a:p xmlns:a="http://schemas.openxmlformats.org/drawingml/2006/main">
            <a:pPr>
              <a:defRPr sz="2100" b="0">
                <a:solidFill>
                  <a:srgbClr val="536471"/>
                </a:solidFill>
                <a:latin typeface="Helvetica Neue"/>
                <a:ea typeface="Helvetica Neue"/>
                <a:cs typeface="Helvetica Neue"/>
              </a:defRPr>
            </a:pPr>
            <a:r>
              <a:rPr sz="2100" b="0">
                <a:solidFill>
                  <a:srgbClr val="536471"/>
                </a:solidFill>
                <a:latin typeface="Helvetica Neue"/>
                <a:ea typeface="Helvetica Neue"/>
                <a:cs typeface="Helvetica Neue"/>
              </a:rPr>
              <a:t>Sabir Shakhawat</a:t>
            </a:r>
          </a:p>
        </p:txBody>
      </p:sp>
      <p:sp>
        <p:nvSpPr>
          <p:cNvPr id="4" name="">
            <a:extLst xmlns:a="http://schemas.openxmlformats.org/drawingml/2006/main">
              <a:ext uri="{FF2B5EF4-FFF2-40B4-BE49-F238E27FC236}">
                <a16:creationId xmlns:a16="http://schemas.microsoft.com/office/drawing/2014/main" id="{99A7612E-AC57-4016-BA34-F9E1A2302A29}"/>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Decision requested: a measured pilot using existing vehicles.</a:t>
            </a:r>
          </a:p>
        </p:txBody>
      </p:sp>
    </p:spTree>
    <p:extLst>
      <p:ext uri="{BB962C8B-B14F-4D97-AF65-F5344CB8AC3E}">
        <p14:creationId xmlns:p14="http://schemas.microsoft.com/office/powerpoint/2010/main" val="1743840318"/>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86E455-BF6E-41E7-8C3C-355A38BF5C8A}"/>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3.52 million trips meet the project’s quality rules</a:t>
            </a:r>
          </a:p>
        </p:txBody>
      </p:sp>
      <p:graphicFrame>
        <p:nvGraphicFramePr>
          <p:cNvPr id="2" name="">
            <a:extLst xmlns:a="http://schemas.openxmlformats.org/drawingml/2006/main">
              <a:ext uri="{FF2B5EF4-FFF2-40B4-BE49-F238E27FC236}">
                <a16:creationId xmlns:a16="http://schemas.microsoft.com/office/drawing/2014/main" id="{A90C06B2-9532-4158-B731-0D344E84561F}"/>
              </a:ext>
            </a:extLst>
          </p:cNvPr>
          <p:cNvGraphicFramePr/>
          <p:nvPr/>
        </p:nvGraphicFramePr>
        <p:xfrm>
          <a:off xmlns:a="http://schemas.openxmlformats.org/drawingml/2006/main" x="533400" y="1714500"/>
          <a:ext xmlns:a="http://schemas.openxmlformats.org/drawingml/2006/main" cx="11125200" cy="2857500"/>
        </p:xfrm>
        <a:graphic xmlns:a="http://schemas.openxmlformats.org/drawingml/2006/main">
          <a:graphicData uri="http://schemas.openxmlformats.org/drawingml/2006/table">
            <a:tbl>
              <a:tblPr/>
              <a:tblGrid>
                <a:gridCol w="7810500"/>
                <a:gridCol w="3314700"/>
              </a:tblGrid>
              <a:tr h="714375">
                <a:tc>
                  <a:txBody>
                    <a:bodyPr/>
                    <a:lstStyle/>
                    <a:p>
                      <a:r>
                        <a:rPr sz="1800" b="1">
                          <a:solidFill>
                            <a:srgbClr val="FFFFFF"/>
                          </a:solidFill>
                          <a:latin typeface="Helvetica Neue"/>
                          <a:ea typeface="Helvetica Neue"/>
                          <a:cs typeface="Helvetica Neue"/>
                        </a:rPr>
                        <a:t>January scope</a:t>
                      </a:r>
                    </a:p>
                  </a:txBody>
                  <a:tcPr marL="91440" marR="91440" marT="45720" marB="45720">
                    <a:lnL w="9525">
                      <a:solidFill>
                        <a:srgbClr val="D7E0E6"/>
                      </a:solidFill>
                    </a:lnL>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Records</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r>
              <a:tr h="714375">
                <a:tc>
                  <a:txBody>
                    <a:bodyPr/>
                    <a:lstStyle/>
                    <a:p>
                      <a:r>
                        <a:rPr sz="1800" b="0">
                          <a:solidFill>
                            <a:srgbClr val="18384B"/>
                          </a:solidFill>
                          <a:latin typeface="Helvetica Neue"/>
                          <a:ea typeface="Helvetica Neue"/>
                          <a:cs typeface="Helvetica Neue"/>
                        </a:rPr>
                        <a:t>Source pickups</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3,724,882</a:t>
                      </a:r>
                    </a:p>
                  </a:txBody>
                  <a:tcPr marL="91440" marR="91440" marT="45720" marB="45720">
                    <a:lnR w="9525">
                      <a:solidFill>
                        <a:srgbClr val="D7E0E6"/>
                      </a:solidFill>
                    </a:lnR>
                    <a:lnB w="9525">
                      <a:solidFill>
                        <a:srgbClr val="D7E0E6"/>
                      </a:solidFill>
                    </a:lnB>
                    <a:solidFill>
                      <a:srgbClr val="FFFFFF"/>
                    </a:solidFill>
                  </a:tcPr>
                </a:tc>
              </a:tr>
              <a:tr h="714375">
                <a:tc>
                  <a:txBody>
                    <a:bodyPr/>
                    <a:lstStyle/>
                    <a:p>
                      <a:r>
                        <a:rPr sz="1800" b="0">
                          <a:solidFill>
                            <a:srgbClr val="18384B"/>
                          </a:solidFill>
                          <a:latin typeface="Helvetica Neue"/>
                          <a:ea typeface="Helvetica Neue"/>
                          <a:cs typeface="Helvetica Neue"/>
                        </a:rPr>
                        <a:t>Eligible trips</a:t>
                      </a:r>
                    </a:p>
                  </a:txBody>
                  <a:tcPr marL="91440" marR="91440" marT="45720" marB="45720">
                    <a:lnL w="9525">
                      <a:solidFill>
                        <a:srgbClr val="D7E0E6"/>
                      </a:solidFill>
                    </a:lnL>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3,517,775</a:t>
                      </a:r>
                    </a:p>
                  </a:txBody>
                  <a:tcPr marL="91440" marR="91440" marT="45720" marB="45720">
                    <a:lnR w="9525">
                      <a:solidFill>
                        <a:srgbClr val="D7E0E6"/>
                      </a:solidFill>
                    </a:lnR>
                    <a:lnB w="9525">
                      <a:solidFill>
                        <a:srgbClr val="D7E0E6"/>
                      </a:solidFill>
                    </a:lnB>
                    <a:solidFill>
                      <a:srgbClr val="EEF4F5"/>
                    </a:solidFill>
                  </a:tcPr>
                </a:tc>
              </a:tr>
              <a:tr h="714375">
                <a:tc>
                  <a:txBody>
                    <a:bodyPr/>
                    <a:lstStyle/>
                    <a:p>
                      <a:r>
                        <a:rPr sz="1800" b="0">
                          <a:solidFill>
                            <a:srgbClr val="18384B"/>
                          </a:solidFill>
                          <a:latin typeface="Helvetica Neue"/>
                          <a:ea typeface="Helvetica Neue"/>
                          <a:cs typeface="Helvetica Neue"/>
                        </a:rPr>
                        <a:t>Excluded trips</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207,107</a:t>
                      </a:r>
                    </a:p>
                  </a:txBody>
                  <a:tcPr marL="91440" marR="91440" marT="45720" marB="45720">
                    <a:lnR w="9525">
                      <a:solidFill>
                        <a:srgbClr val="D7E0E6"/>
                      </a:solidFill>
                    </a:lnR>
                    <a:lnB w="9525">
                      <a:solidFill>
                        <a:srgbClr val="D7E0E6"/>
                      </a:solidFill>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BCBE071-E518-4C37-8C74-8C1A1AA7E533}"/>
              </a:ext>
            </a:extLst>
          </p:cNvPr>
          <p:cNvSpPr>
            <a:spLocks xmlns:a="http://schemas.openxmlformats.org/drawingml/2006/main" noGrp="1"/>
          </p:cNvSpPr>
          <p:nvPr/>
        </p:nvSpPr>
        <p:spPr>
          <a:xfrm xmlns:a="http://schemas.openxmlformats.org/drawingml/2006/main">
            <a:off x="533400" y="49530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84B"/>
                </a:solidFill>
                <a:latin typeface="Helvetica Neue"/>
                <a:ea typeface="Helvetica Neue"/>
                <a:cs typeface="Helvetica Neue"/>
              </a:defRPr>
            </a:defPPr>
            <a:lvl1pPr>
              <a:defRPr sz="2250" b="1">
                <a:solidFill>
                  <a:srgbClr val="18384B"/>
                </a:solidFill>
                <a:latin typeface="Helvetica Neue"/>
                <a:ea typeface="Helvetica Neue"/>
                <a:cs typeface="Helvetica Neue"/>
              </a:defRPr>
            </a:lvl1pPr>
            <a:lvl2pPr>
              <a:defRPr sz="2250" b="1">
                <a:solidFill>
                  <a:srgbClr val="18384B"/>
                </a:solidFill>
                <a:latin typeface="Helvetica Neue"/>
                <a:ea typeface="Helvetica Neue"/>
                <a:cs typeface="Helvetica Neue"/>
              </a:defRPr>
            </a:lvl2pPr>
            <a:lvl3pPr>
              <a:defRPr sz="2250" b="1">
                <a:solidFill>
                  <a:srgbClr val="18384B"/>
                </a:solidFill>
                <a:latin typeface="Helvetica Neue"/>
                <a:ea typeface="Helvetica Neue"/>
                <a:cs typeface="Helvetica Neue"/>
              </a:defRPr>
            </a:lvl3pPr>
            <a:lvl4pPr>
              <a:defRPr sz="2250" b="1">
                <a:solidFill>
                  <a:srgbClr val="18384B"/>
                </a:solidFill>
                <a:latin typeface="Helvetica Neue"/>
                <a:ea typeface="Helvetica Neue"/>
                <a:cs typeface="Helvetica Neue"/>
              </a:defRPr>
            </a:lvl4pPr>
            <a:lvl5pPr>
              <a:defRPr sz="2250" b="1">
                <a:solidFill>
                  <a:srgbClr val="18384B"/>
                </a:solidFill>
                <a:latin typeface="Helvetica Neue"/>
                <a:ea typeface="Helvetica Neue"/>
                <a:cs typeface="Helvetica Neue"/>
              </a:defRPr>
            </a:lvl5pPr>
            <a:lvl6pPr>
              <a:defRPr sz="2250" b="1">
                <a:solidFill>
                  <a:srgbClr val="18384B"/>
                </a:solidFill>
                <a:latin typeface="Helvetica Neue"/>
                <a:ea typeface="Helvetica Neue"/>
                <a:cs typeface="Helvetica Neue"/>
              </a:defRPr>
            </a:lvl6pPr>
            <a:lvl7pPr>
              <a:defRPr sz="2250" b="1">
                <a:solidFill>
                  <a:srgbClr val="18384B"/>
                </a:solidFill>
                <a:latin typeface="Helvetica Neue"/>
                <a:ea typeface="Helvetica Neue"/>
                <a:cs typeface="Helvetica Neue"/>
              </a:defRPr>
            </a:lvl7pPr>
            <a:lvl8pPr>
              <a:defRPr sz="2250" b="1">
                <a:solidFill>
                  <a:srgbClr val="18384B"/>
                </a:solidFill>
                <a:latin typeface="Helvetica Neue"/>
                <a:ea typeface="Helvetica Neue"/>
                <a:cs typeface="Helvetica Neue"/>
              </a:defRPr>
            </a:lvl8pPr>
            <a:lvl9pPr>
              <a:defRPr sz="2250" b="1">
                <a:solidFill>
                  <a:srgbClr val="18384B"/>
                </a:solidFill>
                <a:latin typeface="Helvetica Neue"/>
                <a:ea typeface="Helvetica Neue"/>
                <a:cs typeface="Helvetica Neue"/>
              </a:defRPr>
            </a:lvl9pPr>
          </a:lstStyle>
          <a:p xmlns:a="http://schemas.openxmlformats.org/drawingml/2006/main">
            <a:pPr>
              <a:defRPr sz="2250" b="1">
                <a:solidFill>
                  <a:srgbClr val="18384B"/>
                </a:solidFill>
                <a:latin typeface="Helvetica Neue"/>
                <a:ea typeface="Helvetica Neue"/>
                <a:cs typeface="Helvetica Neue"/>
              </a:defRPr>
            </a:pPr>
            <a:r>
              <a:rPr sz="2250" b="1">
                <a:solidFill>
                  <a:srgbClr val="18384B"/>
                </a:solidFill>
                <a:latin typeface="Helvetica Neue"/>
                <a:ea typeface="Helvetica Neue"/>
                <a:cs typeface="Helvetica Neue"/>
              </a:rPr>
              <a:t>Recorded pickups describe activity that occurred.</a:t>
            </a:r>
          </a:p>
          <a:p xmlns:a="http://schemas.openxmlformats.org/drawingml/2006/main">
            <a:pPr>
              <a:defRPr sz="2250" b="1">
                <a:solidFill>
                  <a:srgbClr val="18384B"/>
                </a:solidFill>
                <a:latin typeface="Helvetica Neue"/>
                <a:ea typeface="Helvetica Neue"/>
                <a:cs typeface="Helvetica Neue"/>
              </a:defRPr>
            </a:pPr>
            <a:r>
              <a:rPr sz="2250" b="1">
                <a:solidFill>
                  <a:srgbClr val="18384B"/>
                </a:solidFill>
                <a:latin typeface="Helvetica Neue"/>
                <a:ea typeface="Helvetica Neue"/>
                <a:cs typeface="Helvetica Neue"/>
              </a:rPr>
              <a:t>They do not reveal unmet demand or operator profit.</a:t>
            </a:r>
          </a:p>
        </p:txBody>
      </p:sp>
      <p:sp>
        <p:nvSpPr>
          <p:cNvPr id="4" name="">
            <a:extLst xmlns:a="http://schemas.openxmlformats.org/drawingml/2006/main">
              <a:ext uri="{FF2B5EF4-FFF2-40B4-BE49-F238E27FC236}">
                <a16:creationId xmlns:a16="http://schemas.microsoft.com/office/drawing/2014/main" id="{4358F385-4287-454C-886B-B8DC13D1278D}"/>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Passenger counts are missing on 28.3% of eligible trips.</a:t>
            </a:r>
          </a:p>
        </p:txBody>
      </p:sp>
    </p:spTree>
    <p:extLst>
      <p:ext uri="{BB962C8B-B14F-4D97-AF65-F5344CB8AC3E}">
        <p14:creationId xmlns:p14="http://schemas.microsoft.com/office/powerpoint/2010/main" val="1255032509"/>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2E5E38-0032-4418-BCCC-7BFBFE87AA57}"/>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The top 15 zones account for 45.8% of trips</a:t>
            </a:r>
          </a:p>
        </p:txBody>
      </p:sp>
      <p:graphicFrame>
        <p:nvGraphicFramePr>
          <p:cNvPr id="2" name="Chart">
            <a:extLst xmlns:a="http://schemas.openxmlformats.org/drawingml/2006/main">
              <a:ext uri="{FF2B5EF4-FFF2-40B4-BE49-F238E27FC236}">
                <a16:creationId xmlns:a16="http://schemas.microsoft.com/office/drawing/2014/main" id="{D2C4FE38-AD67-4663-B00A-95AC9E39907D}"/>
              </a:ext>
            </a:extLst>
          </p:cNvPr>
          <p:cNvGraphicFramePr/>
          <p:nvPr/>
        </p:nvGraphicFramePr>
        <p:xfrm>
          <a:off xmlns:a="http://schemas.openxmlformats.org/drawingml/2006/main" x="533400" y="1571625"/>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7e73f25f7bfa45e3"/>
          </a:graphicData>
        </a:graphic>
      </p:graphicFrame>
      <p:sp>
        <p:nvSpPr>
          <p:cNvPr id="3" name="">
            <a:extLst xmlns:a="http://schemas.openxmlformats.org/drawingml/2006/main">
              <a:ext uri="{FF2B5EF4-FFF2-40B4-BE49-F238E27FC236}">
                <a16:creationId xmlns:a16="http://schemas.microsoft.com/office/drawing/2014/main" id="{210874CB-C963-4447-BDA7-B62A3AB97D99}"/>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Chart: top 10 zones. Use fleet supply and waiting-time data to select pilot locations.</a:t>
            </a:r>
          </a:p>
        </p:txBody>
      </p:sp>
    </p:spTree>
    <p:extLst>
      <p:ext uri="{BB962C8B-B14F-4D97-AF65-F5344CB8AC3E}">
        <p14:creationId xmlns:p14="http://schemas.microsoft.com/office/powerpoint/2010/main" val="1337349828"/>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811E2BC-CDA1-403E-8131-B197736F64A6}"/>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Citywide pickup activity peaks at 6 PM</a:t>
            </a:r>
          </a:p>
        </p:txBody>
      </p:sp>
      <p:graphicFrame>
        <p:nvGraphicFramePr>
          <p:cNvPr id="2" name="Chart">
            <a:extLst xmlns:a="http://schemas.openxmlformats.org/drawingml/2006/main">
              <a:ext uri="{FF2B5EF4-FFF2-40B4-BE49-F238E27FC236}">
                <a16:creationId xmlns:a16="http://schemas.microsoft.com/office/drawing/2014/main" id="{FF23F712-1B26-4D7A-AFCB-ED50C73D9FD3}"/>
              </a:ext>
            </a:extLst>
          </p:cNvPr>
          <p:cNvGraphicFramePr/>
          <p:nvPr/>
        </p:nvGraphicFramePr>
        <p:xfrm>
          <a:off xmlns:a="http://schemas.openxmlformats.org/drawingml/2006/main" x="533400" y="1571625"/>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526b27e708f4476c"/>
          </a:graphicData>
        </a:graphic>
      </p:graphicFrame>
      <p:sp>
        <p:nvSpPr>
          <p:cNvPr id="3" name="">
            <a:extLst xmlns:a="http://schemas.openxmlformats.org/drawingml/2006/main">
              <a:ext uri="{FF2B5EF4-FFF2-40B4-BE49-F238E27FC236}">
                <a16:creationId xmlns:a16="http://schemas.microsoft.com/office/drawing/2014/main" id="{D0A1615D-00F0-4406-B626-6EAA03550BC5}"/>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Hour of day, 0–23. Average across 31 January days. Peak: 7,408 pickups from 6–7 PM.</a:t>
            </a:r>
          </a:p>
        </p:txBody>
      </p:sp>
    </p:spTree>
    <p:extLst>
      <p:ext uri="{BB962C8B-B14F-4D97-AF65-F5344CB8AC3E}">
        <p14:creationId xmlns:p14="http://schemas.microsoft.com/office/powerpoint/2010/main" val="655399748"/>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F428F7-5C3E-489C-B4E2-3255E8A421B1}"/>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Priority zones have different peak hours</a:t>
            </a:r>
          </a:p>
        </p:txBody>
      </p:sp>
      <p:graphicFrame>
        <p:nvGraphicFramePr>
          <p:cNvPr id="2" name="">
            <a:extLst xmlns:a="http://schemas.openxmlformats.org/drawingml/2006/main">
              <a:ext uri="{FF2B5EF4-FFF2-40B4-BE49-F238E27FC236}">
                <a16:creationId xmlns:a16="http://schemas.microsoft.com/office/drawing/2014/main" id="{C2DC8410-BEEE-4B3F-8D19-F7FFBFBA82C2}"/>
              </a:ext>
            </a:extLst>
          </p:cNvPr>
          <p:cNvGraphicFramePr/>
          <p:nvPr/>
        </p:nvGraphicFramePr>
        <p:xfrm>
          <a:off xmlns:a="http://schemas.openxmlformats.org/drawingml/2006/main" x="533400" y="1524000"/>
          <a:ext xmlns:a="http://schemas.openxmlformats.org/drawingml/2006/main" cx="11125200" cy="3524250"/>
        </p:xfrm>
        <a:graphic xmlns:a="http://schemas.openxmlformats.org/drawingml/2006/main">
          <a:graphicData uri="http://schemas.openxmlformats.org/drawingml/2006/table">
            <a:tbl>
              <a:tblPr/>
              <a:tblGrid>
                <a:gridCol w="4953000"/>
                <a:gridCol w="1619250"/>
                <a:gridCol w="2476500"/>
                <a:gridCol w="2076450"/>
              </a:tblGrid>
              <a:tr h="587375">
                <a:tc>
                  <a:txBody>
                    <a:bodyPr/>
                    <a:lstStyle/>
                    <a:p>
                      <a:r>
                        <a:rPr sz="1800" b="1">
                          <a:solidFill>
                            <a:srgbClr val="FFFFFF"/>
                          </a:solidFill>
                          <a:latin typeface="Helvetica Neue"/>
                          <a:ea typeface="Helvetica Neue"/>
                          <a:cs typeface="Helvetica Neue"/>
                        </a:rPr>
                        <a:t>Pickup zone</a:t>
                      </a:r>
                    </a:p>
                  </a:txBody>
                  <a:tcPr marL="91440" marR="91440" marT="45720" marB="45720">
                    <a:lnL w="9525">
                      <a:solidFill>
                        <a:srgbClr val="D7E0E6"/>
                      </a:solidFill>
                    </a:lnL>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Peak hour</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Pickups/day</a:t>
                      </a:r>
                    </a:p>
                    <a:p>
                      <a:r>
                        <a:rPr sz="1800" b="1">
                          <a:solidFill>
                            <a:srgbClr val="FFFFFF"/>
                          </a:solidFill>
                          <a:latin typeface="Helvetica Neue"/>
                          <a:ea typeface="Helvetica Neue"/>
                          <a:cs typeface="Helvetica Neue"/>
                        </a:rPr>
                        <a:t>in peak hour</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Monthly</a:t>
                      </a:r>
                    </a:p>
                    <a:p>
                      <a:r>
                        <a:rPr sz="1800" b="1">
                          <a:solidFill>
                            <a:srgbClr val="FFFFFF"/>
                          </a:solidFill>
                          <a:latin typeface="Helvetica Neue"/>
                          <a:ea typeface="Helvetica Neue"/>
                          <a:cs typeface="Helvetica Neue"/>
                        </a:rPr>
                        <a:t>trip share</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r>
              <a:tr h="587375">
                <a:tc>
                  <a:txBody>
                    <a:bodyPr/>
                    <a:lstStyle/>
                    <a:p>
                      <a:r>
                        <a:rPr sz="1800" b="0">
                          <a:solidFill>
                            <a:srgbClr val="18384B"/>
                          </a:solidFill>
                          <a:latin typeface="Helvetica Neue"/>
                          <a:ea typeface="Helvetica Neue"/>
                          <a:cs typeface="Helvetica Neue"/>
                        </a:rPr>
                        <a:t>Upper East Side South</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15:00</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393.3</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4.34%</a:t>
                      </a:r>
                    </a:p>
                  </a:txBody>
                  <a:tcPr marL="91440" marR="91440" marT="45720" marB="45720">
                    <a:lnR w="9525">
                      <a:solidFill>
                        <a:srgbClr val="D7E0E6"/>
                      </a:solidFill>
                    </a:lnR>
                    <a:lnB w="9525">
                      <a:solidFill>
                        <a:srgbClr val="D7E0E6"/>
                      </a:solidFill>
                    </a:lnB>
                    <a:solidFill>
                      <a:srgbClr val="FFFFFF"/>
                    </a:solidFill>
                  </a:tcPr>
                </a:tc>
              </a:tr>
              <a:tr h="587375">
                <a:tc>
                  <a:txBody>
                    <a:bodyPr/>
                    <a:lstStyle/>
                    <a:p>
                      <a:r>
                        <a:rPr sz="1800" b="0">
                          <a:solidFill>
                            <a:srgbClr val="18384B"/>
                          </a:solidFill>
                          <a:latin typeface="Helvetica Neue"/>
                          <a:ea typeface="Helvetica Neue"/>
                          <a:cs typeface="Helvetica Neue"/>
                        </a:rPr>
                        <a:t>Upper East Side North</a:t>
                      </a:r>
                    </a:p>
                  </a:txBody>
                  <a:tcPr marL="91440" marR="91440" marT="45720" marB="45720">
                    <a:lnL w="9525">
                      <a:solidFill>
                        <a:srgbClr val="D7E0E6"/>
                      </a:solidFill>
                    </a:lnL>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15:00</a:t>
                      </a:r>
                    </a:p>
                  </a:txBody>
                  <a:tcPr marL="91440" marR="91440" marT="45720" marB="45720">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412.5</a:t>
                      </a:r>
                    </a:p>
                  </a:txBody>
                  <a:tcPr marL="91440" marR="91440" marT="45720" marB="45720">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4.14%</a:t>
                      </a:r>
                    </a:p>
                  </a:txBody>
                  <a:tcPr marL="91440" marR="91440" marT="45720" marB="45720">
                    <a:lnR w="9525">
                      <a:solidFill>
                        <a:srgbClr val="D7E0E6"/>
                      </a:solidFill>
                    </a:lnR>
                    <a:lnB w="9525">
                      <a:solidFill>
                        <a:srgbClr val="D7E0E6"/>
                      </a:solidFill>
                    </a:lnB>
                    <a:solidFill>
                      <a:srgbClr val="EEF4F5"/>
                    </a:solidFill>
                  </a:tcPr>
                </a:tc>
              </a:tr>
              <a:tr h="587375">
                <a:tc>
                  <a:txBody>
                    <a:bodyPr/>
                    <a:lstStyle/>
                    <a:p>
                      <a:r>
                        <a:rPr sz="1800" b="0">
                          <a:solidFill>
                            <a:srgbClr val="18384B"/>
                          </a:solidFill>
                          <a:latin typeface="Helvetica Neue"/>
                          <a:ea typeface="Helvetica Neue"/>
                          <a:cs typeface="Helvetica Neue"/>
                        </a:rPr>
                        <a:t>JFK Airport</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20:00</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360.9</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4.03%</a:t>
                      </a:r>
                    </a:p>
                  </a:txBody>
                  <a:tcPr marL="91440" marR="91440" marT="45720" marB="45720">
                    <a:lnR w="9525">
                      <a:solidFill>
                        <a:srgbClr val="D7E0E6"/>
                      </a:solidFill>
                    </a:lnR>
                    <a:lnB w="9525">
                      <a:solidFill>
                        <a:srgbClr val="D7E0E6"/>
                      </a:solidFill>
                    </a:lnB>
                    <a:solidFill>
                      <a:srgbClr val="FFFFFF"/>
                    </a:solidFill>
                  </a:tcPr>
                </a:tc>
              </a:tr>
              <a:tr h="587375">
                <a:tc>
                  <a:txBody>
                    <a:bodyPr/>
                    <a:lstStyle/>
                    <a:p>
                      <a:r>
                        <a:rPr sz="1800" b="0">
                          <a:solidFill>
                            <a:srgbClr val="18384B"/>
                          </a:solidFill>
                          <a:latin typeface="Helvetica Neue"/>
                          <a:ea typeface="Helvetica Neue"/>
                          <a:cs typeface="Helvetica Neue"/>
                        </a:rPr>
                        <a:t>Midtown Center</a:t>
                      </a:r>
                    </a:p>
                  </a:txBody>
                  <a:tcPr marL="91440" marR="91440" marT="45720" marB="45720">
                    <a:lnL w="9525">
                      <a:solidFill>
                        <a:srgbClr val="D7E0E6"/>
                      </a:solidFill>
                    </a:lnL>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18:00</a:t>
                      </a:r>
                    </a:p>
                  </a:txBody>
                  <a:tcPr marL="91440" marR="91440" marT="45720" marB="45720">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396.6</a:t>
                      </a:r>
                    </a:p>
                  </a:txBody>
                  <a:tcPr marL="91440" marR="91440" marT="45720" marB="45720">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3.96%</a:t>
                      </a:r>
                    </a:p>
                  </a:txBody>
                  <a:tcPr marL="91440" marR="91440" marT="45720" marB="45720">
                    <a:lnR w="9525">
                      <a:solidFill>
                        <a:srgbClr val="D7E0E6"/>
                      </a:solidFill>
                    </a:lnR>
                    <a:lnB w="9525">
                      <a:solidFill>
                        <a:srgbClr val="D7E0E6"/>
                      </a:solidFill>
                    </a:lnB>
                    <a:solidFill>
                      <a:srgbClr val="EEF4F5"/>
                    </a:solidFill>
                  </a:tcPr>
                </a:tc>
              </a:tr>
              <a:tr h="587375">
                <a:tc>
                  <a:txBody>
                    <a:bodyPr/>
                    <a:lstStyle/>
                    <a:p>
                      <a:r>
                        <a:rPr sz="1800" b="0">
                          <a:solidFill>
                            <a:srgbClr val="18384B"/>
                          </a:solidFill>
                          <a:latin typeface="Helvetica Neue"/>
                          <a:ea typeface="Helvetica Neue"/>
                          <a:cs typeface="Helvetica Neue"/>
                        </a:rPr>
                        <a:t>Penn Station/Madison Sq West</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22:00</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218.2</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3.00%</a:t>
                      </a:r>
                    </a:p>
                  </a:txBody>
                  <a:tcPr marL="91440" marR="91440" marT="45720" marB="45720">
                    <a:lnR w="9525">
                      <a:solidFill>
                        <a:srgbClr val="D7E0E6"/>
                      </a:solidFill>
                    </a:lnR>
                    <a:lnB w="9525">
                      <a:solidFill>
                        <a:srgbClr val="D7E0E6"/>
                      </a:solidFill>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233AEAE-DAA7-4E2D-938D-41135BDEDC64}"/>
              </a:ext>
            </a:extLst>
          </p:cNvPr>
          <p:cNvSpPr>
            <a:spLocks xmlns:a="http://schemas.openxmlformats.org/drawingml/2006/main" noGrp="1"/>
          </p:cNvSpPr>
          <p:nvPr/>
        </p:nvSpPr>
        <p:spPr>
          <a:xfrm xmlns:a="http://schemas.openxmlformats.org/drawingml/2006/main">
            <a:off x="533400" y="53340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84B"/>
                </a:solidFill>
                <a:latin typeface="Helvetica Neue"/>
                <a:ea typeface="Helvetica Neue"/>
                <a:cs typeface="Helvetica Neue"/>
              </a:defRPr>
            </a:defPPr>
            <a:lvl1pPr>
              <a:defRPr sz="2100" b="1">
                <a:solidFill>
                  <a:srgbClr val="18384B"/>
                </a:solidFill>
                <a:latin typeface="Helvetica Neue"/>
                <a:ea typeface="Helvetica Neue"/>
                <a:cs typeface="Helvetica Neue"/>
              </a:defRPr>
            </a:lvl1pPr>
            <a:lvl2pPr>
              <a:defRPr sz="2100" b="1">
                <a:solidFill>
                  <a:srgbClr val="18384B"/>
                </a:solidFill>
                <a:latin typeface="Helvetica Neue"/>
                <a:ea typeface="Helvetica Neue"/>
                <a:cs typeface="Helvetica Neue"/>
              </a:defRPr>
            </a:lvl2pPr>
            <a:lvl3pPr>
              <a:defRPr sz="2100" b="1">
                <a:solidFill>
                  <a:srgbClr val="18384B"/>
                </a:solidFill>
                <a:latin typeface="Helvetica Neue"/>
                <a:ea typeface="Helvetica Neue"/>
                <a:cs typeface="Helvetica Neue"/>
              </a:defRPr>
            </a:lvl3pPr>
            <a:lvl4pPr>
              <a:defRPr sz="2100" b="1">
                <a:solidFill>
                  <a:srgbClr val="18384B"/>
                </a:solidFill>
                <a:latin typeface="Helvetica Neue"/>
                <a:ea typeface="Helvetica Neue"/>
                <a:cs typeface="Helvetica Neue"/>
              </a:defRPr>
            </a:lvl4pPr>
            <a:lvl5pPr>
              <a:defRPr sz="2100" b="1">
                <a:solidFill>
                  <a:srgbClr val="18384B"/>
                </a:solidFill>
                <a:latin typeface="Helvetica Neue"/>
                <a:ea typeface="Helvetica Neue"/>
                <a:cs typeface="Helvetica Neue"/>
              </a:defRPr>
            </a:lvl5pPr>
            <a:lvl6pPr>
              <a:defRPr sz="2100" b="1">
                <a:solidFill>
                  <a:srgbClr val="18384B"/>
                </a:solidFill>
                <a:latin typeface="Helvetica Neue"/>
                <a:ea typeface="Helvetica Neue"/>
                <a:cs typeface="Helvetica Neue"/>
              </a:defRPr>
            </a:lvl6pPr>
            <a:lvl7pPr>
              <a:defRPr sz="2100" b="1">
                <a:solidFill>
                  <a:srgbClr val="18384B"/>
                </a:solidFill>
                <a:latin typeface="Helvetica Neue"/>
                <a:ea typeface="Helvetica Neue"/>
                <a:cs typeface="Helvetica Neue"/>
              </a:defRPr>
            </a:lvl7pPr>
            <a:lvl8pPr>
              <a:defRPr sz="2100" b="1">
                <a:solidFill>
                  <a:srgbClr val="18384B"/>
                </a:solidFill>
                <a:latin typeface="Helvetica Neue"/>
                <a:ea typeface="Helvetica Neue"/>
                <a:cs typeface="Helvetica Neue"/>
              </a:defRPr>
            </a:lvl8pPr>
            <a:lvl9pPr>
              <a:defRPr sz="2100" b="1">
                <a:solidFill>
                  <a:srgbClr val="18384B"/>
                </a:solidFill>
                <a:latin typeface="Helvetica Neue"/>
                <a:ea typeface="Helvetica Neue"/>
                <a:cs typeface="Helvetica Neue"/>
              </a:defRPr>
            </a:lvl9pPr>
          </a:lstStyle>
          <a:p xmlns:a="http://schemas.openxmlformats.org/drawingml/2006/main">
            <a:pPr>
              <a:defRPr sz="2100" b="1">
                <a:solidFill>
                  <a:srgbClr val="18384B"/>
                </a:solidFill>
                <a:latin typeface="Helvetica Neue"/>
                <a:ea typeface="Helvetica Neue"/>
                <a:cs typeface="Helvetica Neue"/>
              </a:defRPr>
            </a:pPr>
            <a:r>
              <a:rPr sz="2100" b="1">
                <a:solidFill>
                  <a:srgbClr val="18384B"/>
                </a:solidFill>
                <a:latin typeface="Helvetica Neue"/>
                <a:ea typeface="Helvetica Neue"/>
                <a:cs typeface="Helvetica Neue"/>
              </a:rPr>
              <a:t>Pilot selection should also consider current driver coverage</a:t>
            </a:r>
          </a:p>
          <a:p xmlns:a="http://schemas.openxmlformats.org/drawingml/2006/main">
            <a:pPr>
              <a:defRPr sz="2100" b="1">
                <a:solidFill>
                  <a:srgbClr val="18384B"/>
                </a:solidFill>
                <a:latin typeface="Helvetica Neue"/>
                <a:ea typeface="Helvetica Neue"/>
                <a:cs typeface="Helvetica Neue"/>
              </a:defRPr>
            </a:pPr>
            <a:r>
              <a:rPr sz="2100" b="1">
                <a:solidFill>
                  <a:srgbClr val="18384B"/>
                </a:solidFill>
                <a:latin typeface="Helvetica Neue"/>
                <a:ea typeface="Helvetica Neue"/>
                <a:cs typeface="Helvetica Neue"/>
              </a:rPr>
              <a:t>and the cost of reaching each zone.</a:t>
            </a:r>
          </a:p>
        </p:txBody>
      </p:sp>
      <p:sp>
        <p:nvSpPr>
          <p:cNvPr id="4" name="">
            <a:extLst xmlns:a="http://schemas.openxmlformats.org/drawingml/2006/main">
              <a:ext uri="{FF2B5EF4-FFF2-40B4-BE49-F238E27FC236}">
                <a16:creationId xmlns:a16="http://schemas.microsoft.com/office/drawing/2014/main" id="{C6D25E8B-3B05-4B30-AD60-829F9EBBD1D8}"/>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Peak-hour averages use all 31 calendar days. Shares use all eligible January trips.</a:t>
            </a:r>
          </a:p>
        </p:txBody>
      </p:sp>
    </p:spTree>
    <p:extLst>
      <p:ext uri="{BB962C8B-B14F-4D97-AF65-F5344CB8AC3E}">
        <p14:creationId xmlns:p14="http://schemas.microsoft.com/office/powerpoint/2010/main" val="1923340083"/>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486063-4170-4BB5-A7EA-1D608A5388D8}"/>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Airport payments come with longer trips</a:t>
            </a:r>
          </a:p>
        </p:txBody>
      </p:sp>
      <p:graphicFrame>
        <p:nvGraphicFramePr>
          <p:cNvPr id="2" name="">
            <a:extLst xmlns:a="http://schemas.openxmlformats.org/drawingml/2006/main">
              <a:ext uri="{FF2B5EF4-FFF2-40B4-BE49-F238E27FC236}">
                <a16:creationId xmlns:a16="http://schemas.microsoft.com/office/drawing/2014/main" id="{63C0CF07-4274-4BD9-90F0-C387CAC63921}"/>
              </a:ext>
            </a:extLst>
          </p:cNvPr>
          <p:cNvGraphicFramePr/>
          <p:nvPr/>
        </p:nvGraphicFramePr>
        <p:xfrm>
          <a:off xmlns:a="http://schemas.openxmlformats.org/drawingml/2006/main" x="533400" y="1714500"/>
          <a:ext xmlns:a="http://schemas.openxmlformats.org/drawingml/2006/main" cx="11125200" cy="2762250"/>
        </p:xfrm>
        <a:graphic xmlns:a="http://schemas.openxmlformats.org/drawingml/2006/main">
          <a:graphicData uri="http://schemas.openxmlformats.org/drawingml/2006/table">
            <a:tbl>
              <a:tblPr/>
              <a:tblGrid>
                <a:gridCol w="3905250"/>
                <a:gridCol w="2476500"/>
                <a:gridCol w="2476500"/>
                <a:gridCol w="2266950"/>
              </a:tblGrid>
              <a:tr h="690563">
                <a:tc>
                  <a:txBody>
                    <a:bodyPr/>
                    <a:lstStyle/>
                    <a:p>
                      <a:r>
                        <a:rPr sz="1800" b="1">
                          <a:solidFill>
                            <a:srgbClr val="FFFFFF"/>
                          </a:solidFill>
                          <a:latin typeface="Helvetica Neue"/>
                          <a:ea typeface="Helvetica Neue"/>
                          <a:cs typeface="Helvetica Neue"/>
                        </a:rPr>
                        <a:t>Pickup area</a:t>
                      </a:r>
                    </a:p>
                  </a:txBody>
                  <a:tcPr marL="91440" marR="91440" marT="45720" marB="45720">
                    <a:lnL w="9525">
                      <a:solidFill>
                        <a:srgbClr val="D7E0E6"/>
                      </a:solidFill>
                    </a:lnL>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January trips</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Payment/trip</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Minutes/trip</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r>
              <a:tr h="690563">
                <a:tc>
                  <a:txBody>
                    <a:bodyPr/>
                    <a:lstStyle/>
                    <a:p>
                      <a:r>
                        <a:rPr sz="1800" b="0">
                          <a:solidFill>
                            <a:srgbClr val="18384B"/>
                          </a:solidFill>
                          <a:latin typeface="Helvetica Neue"/>
                          <a:ea typeface="Helvetica Neue"/>
                          <a:cs typeface="Helvetica Neue"/>
                        </a:rPr>
                        <a:t>JFK Airport</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141,612</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$79.27</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38.6</a:t>
                      </a:r>
                    </a:p>
                  </a:txBody>
                  <a:tcPr marL="91440" marR="91440" marT="45720" marB="45720">
                    <a:lnR w="9525">
                      <a:solidFill>
                        <a:srgbClr val="D7E0E6"/>
                      </a:solidFill>
                    </a:lnR>
                    <a:lnB w="9525">
                      <a:solidFill>
                        <a:srgbClr val="D7E0E6"/>
                      </a:solidFill>
                    </a:lnB>
                    <a:solidFill>
                      <a:srgbClr val="FFFFFF"/>
                    </a:solidFill>
                  </a:tcPr>
                </a:tc>
              </a:tr>
              <a:tr h="690563">
                <a:tc>
                  <a:txBody>
                    <a:bodyPr/>
                    <a:lstStyle/>
                    <a:p>
                      <a:r>
                        <a:rPr sz="1800" b="0">
                          <a:solidFill>
                            <a:srgbClr val="18384B"/>
                          </a:solidFill>
                          <a:latin typeface="Helvetica Neue"/>
                          <a:ea typeface="Helvetica Neue"/>
                          <a:cs typeface="Helvetica Neue"/>
                        </a:rPr>
                        <a:t>LaGuardia Airport</a:t>
                      </a:r>
                    </a:p>
                  </a:txBody>
                  <a:tcPr marL="91440" marR="91440" marT="45720" marB="45720">
                    <a:lnL w="9525">
                      <a:solidFill>
                        <a:srgbClr val="D7E0E6"/>
                      </a:solidFill>
                    </a:lnL>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81,388</a:t>
                      </a:r>
                    </a:p>
                  </a:txBody>
                  <a:tcPr marL="91440" marR="91440" marT="45720" marB="45720">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$69.34</a:t>
                      </a:r>
                    </a:p>
                  </a:txBody>
                  <a:tcPr marL="91440" marR="91440" marT="45720" marB="45720">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28.8</a:t>
                      </a:r>
                    </a:p>
                  </a:txBody>
                  <a:tcPr marL="91440" marR="91440" marT="45720" marB="45720">
                    <a:lnR w="9525">
                      <a:solidFill>
                        <a:srgbClr val="D7E0E6"/>
                      </a:solidFill>
                    </a:lnR>
                    <a:lnB w="9525">
                      <a:solidFill>
                        <a:srgbClr val="D7E0E6"/>
                      </a:solidFill>
                    </a:lnB>
                    <a:solidFill>
                      <a:srgbClr val="EEF4F5"/>
                    </a:solidFill>
                  </a:tcPr>
                </a:tc>
              </a:tr>
              <a:tr h="690563">
                <a:tc>
                  <a:txBody>
                    <a:bodyPr/>
                    <a:lstStyle/>
                    <a:p>
                      <a:r>
                        <a:rPr sz="1800" b="0">
                          <a:solidFill>
                            <a:srgbClr val="18384B"/>
                          </a:solidFill>
                          <a:latin typeface="Helvetica Neue"/>
                          <a:ea typeface="Helvetica Neue"/>
                          <a:cs typeface="Helvetica Neue"/>
                        </a:rPr>
                        <a:t>Other pickup zones</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3,294,775</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$26.56</a:t>
                      </a:r>
                    </a:p>
                  </a:txBody>
                  <a:tcPr marL="91440" marR="91440" marT="45720" marB="45720">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16.3</a:t>
                      </a:r>
                    </a:p>
                  </a:txBody>
                  <a:tcPr marL="91440" marR="91440" marT="45720" marB="45720">
                    <a:lnR w="9525">
                      <a:solidFill>
                        <a:srgbClr val="D7E0E6"/>
                      </a:solidFill>
                    </a:lnR>
                    <a:lnB w="9525">
                      <a:solidFill>
                        <a:srgbClr val="D7E0E6"/>
                      </a:solidFill>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DB54A30-A6BB-4248-A7F0-B96E6A9D92D1}"/>
              </a:ext>
            </a:extLst>
          </p:cNvPr>
          <p:cNvSpPr>
            <a:spLocks xmlns:a="http://schemas.openxmlformats.org/drawingml/2006/main" noGrp="1"/>
          </p:cNvSpPr>
          <p:nvPr/>
        </p:nvSpPr>
        <p:spPr>
          <a:xfrm xmlns:a="http://schemas.openxmlformats.org/drawingml/2006/main">
            <a:off x="533400" y="495300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84B"/>
                </a:solidFill>
                <a:latin typeface="Helvetica Neue"/>
                <a:ea typeface="Helvetica Neue"/>
                <a:cs typeface="Helvetica Neue"/>
              </a:defRPr>
            </a:defPPr>
            <a:lvl1pPr>
              <a:defRPr sz="2250" b="1">
                <a:solidFill>
                  <a:srgbClr val="18384B"/>
                </a:solidFill>
                <a:latin typeface="Helvetica Neue"/>
                <a:ea typeface="Helvetica Neue"/>
                <a:cs typeface="Helvetica Neue"/>
              </a:defRPr>
            </a:lvl1pPr>
            <a:lvl2pPr>
              <a:defRPr sz="2250" b="1">
                <a:solidFill>
                  <a:srgbClr val="18384B"/>
                </a:solidFill>
                <a:latin typeface="Helvetica Neue"/>
                <a:ea typeface="Helvetica Neue"/>
                <a:cs typeface="Helvetica Neue"/>
              </a:defRPr>
            </a:lvl2pPr>
            <a:lvl3pPr>
              <a:defRPr sz="2250" b="1">
                <a:solidFill>
                  <a:srgbClr val="18384B"/>
                </a:solidFill>
                <a:latin typeface="Helvetica Neue"/>
                <a:ea typeface="Helvetica Neue"/>
                <a:cs typeface="Helvetica Neue"/>
              </a:defRPr>
            </a:lvl3pPr>
            <a:lvl4pPr>
              <a:defRPr sz="2250" b="1">
                <a:solidFill>
                  <a:srgbClr val="18384B"/>
                </a:solidFill>
                <a:latin typeface="Helvetica Neue"/>
                <a:ea typeface="Helvetica Neue"/>
                <a:cs typeface="Helvetica Neue"/>
              </a:defRPr>
            </a:lvl4pPr>
            <a:lvl5pPr>
              <a:defRPr sz="2250" b="1">
                <a:solidFill>
                  <a:srgbClr val="18384B"/>
                </a:solidFill>
                <a:latin typeface="Helvetica Neue"/>
                <a:ea typeface="Helvetica Neue"/>
                <a:cs typeface="Helvetica Neue"/>
              </a:defRPr>
            </a:lvl5pPr>
            <a:lvl6pPr>
              <a:defRPr sz="2250" b="1">
                <a:solidFill>
                  <a:srgbClr val="18384B"/>
                </a:solidFill>
                <a:latin typeface="Helvetica Neue"/>
                <a:ea typeface="Helvetica Neue"/>
                <a:cs typeface="Helvetica Neue"/>
              </a:defRPr>
            </a:lvl6pPr>
            <a:lvl7pPr>
              <a:defRPr sz="2250" b="1">
                <a:solidFill>
                  <a:srgbClr val="18384B"/>
                </a:solidFill>
                <a:latin typeface="Helvetica Neue"/>
                <a:ea typeface="Helvetica Neue"/>
                <a:cs typeface="Helvetica Neue"/>
              </a:defRPr>
            </a:lvl7pPr>
            <a:lvl8pPr>
              <a:defRPr sz="2250" b="1">
                <a:solidFill>
                  <a:srgbClr val="18384B"/>
                </a:solidFill>
                <a:latin typeface="Helvetica Neue"/>
                <a:ea typeface="Helvetica Neue"/>
                <a:cs typeface="Helvetica Neue"/>
              </a:defRPr>
            </a:lvl8pPr>
            <a:lvl9pPr>
              <a:defRPr sz="2250" b="1">
                <a:solidFill>
                  <a:srgbClr val="18384B"/>
                </a:solidFill>
                <a:latin typeface="Helvetica Neue"/>
                <a:ea typeface="Helvetica Neue"/>
                <a:cs typeface="Helvetica Neue"/>
              </a:defRPr>
            </a:lvl9pPr>
          </a:lstStyle>
          <a:p xmlns:a="http://schemas.openxmlformats.org/drawingml/2006/main">
            <a:pPr>
              <a:defRPr sz="2250" b="1">
                <a:solidFill>
                  <a:srgbClr val="18384B"/>
                </a:solidFill>
                <a:latin typeface="Helvetica Neue"/>
                <a:ea typeface="Helvetica Neue"/>
                <a:cs typeface="Helvetica Neue"/>
              </a:defRPr>
            </a:pPr>
            <a:r>
              <a:rPr sz="2250" b="1">
                <a:solidFill>
                  <a:srgbClr val="18384B"/>
                </a:solidFill>
                <a:latin typeface="Helvetica Neue"/>
                <a:ea typeface="Helvetica Neue"/>
                <a:cs typeface="Helvetica Neue"/>
              </a:rPr>
              <a:t>Compare airport and neighborhood shifts using net earnings</a:t>
            </a:r>
          </a:p>
          <a:p xmlns:a="http://schemas.openxmlformats.org/drawingml/2006/main">
            <a:pPr>
              <a:defRPr sz="2250" b="1">
                <a:solidFill>
                  <a:srgbClr val="18384B"/>
                </a:solidFill>
                <a:latin typeface="Helvetica Neue"/>
                <a:ea typeface="Helvetica Neue"/>
                <a:cs typeface="Helvetica Neue"/>
              </a:defRPr>
            </a:pPr>
            <a:r>
              <a:rPr sz="2250" b="1">
                <a:solidFill>
                  <a:srgbClr val="18384B"/>
                </a:solidFill>
                <a:latin typeface="Helvetica Neue"/>
                <a:ea typeface="Helvetica Neue"/>
                <a:cs typeface="Helvetica Neue"/>
              </a:rPr>
              <a:t>per working hour, including waiting and empty travel.</a:t>
            </a:r>
          </a:p>
        </p:txBody>
      </p:sp>
      <p:sp>
        <p:nvSpPr>
          <p:cNvPr id="4" name="">
            <a:extLst xmlns:a="http://schemas.openxmlformats.org/drawingml/2006/main">
              <a:ext uri="{FF2B5EF4-FFF2-40B4-BE49-F238E27FC236}">
                <a16:creationId xmlns:a16="http://schemas.microsoft.com/office/drawing/2014/main" id="{0BB9C703-40AB-4E10-BB09-E5A58DCDB003}"/>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Payment is the recorded total_amount field. It does not measure operator profit.</a:t>
            </a:r>
          </a:p>
        </p:txBody>
      </p:sp>
    </p:spTree>
    <p:extLst>
      <p:ext uri="{BB962C8B-B14F-4D97-AF65-F5344CB8AC3E}">
        <p14:creationId xmlns:p14="http://schemas.microsoft.com/office/powerpoint/2010/main" val="2074334811"/>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810DB9F-FEC7-4A09-AFFE-758BBFC8484D}"/>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January 25 warrants a separate investigation</a:t>
            </a:r>
          </a:p>
        </p:txBody>
      </p:sp>
      <p:graphicFrame>
        <p:nvGraphicFramePr>
          <p:cNvPr id="2" name="Chart">
            <a:extLst xmlns:a="http://schemas.openxmlformats.org/drawingml/2006/main">
              <a:ext uri="{FF2B5EF4-FFF2-40B4-BE49-F238E27FC236}">
                <a16:creationId xmlns:a16="http://schemas.microsoft.com/office/drawing/2014/main" id="{7984464F-FA4D-44F6-94CC-7AF0C468023E}"/>
              </a:ext>
            </a:extLst>
          </p:cNvPr>
          <p:cNvGraphicFramePr/>
          <p:nvPr/>
        </p:nvGraphicFramePr>
        <p:xfrm>
          <a:off xmlns:a="http://schemas.openxmlformats.org/drawingml/2006/main" x="533400" y="1571625"/>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3f7a6b379fa24746"/>
          </a:graphicData>
        </a:graphic>
      </p:graphicFrame>
      <p:sp>
        <p:nvSpPr>
          <p:cNvPr id="3" name="">
            <a:extLst xmlns:a="http://schemas.openxmlformats.org/drawingml/2006/main">
              <a:ext uri="{FF2B5EF4-FFF2-40B4-BE49-F238E27FC236}">
                <a16:creationId xmlns:a16="http://schemas.microsoft.com/office/drawing/2014/main" id="{6AA701C3-BD82-4245-8125-CD1DF9A48E14}"/>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January day. Jan 25: 43,552 trips, about 62% below the previous Sunday. Cause remains unverified.</a:t>
            </a:r>
          </a:p>
        </p:txBody>
      </p:sp>
    </p:spTree>
    <p:extLst>
      <p:ext uri="{BB962C8B-B14F-4D97-AF65-F5344CB8AC3E}">
        <p14:creationId xmlns:p14="http://schemas.microsoft.com/office/powerpoint/2010/main" val="1288518795"/>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9BFC78-B538-4B76-A206-D17867199633}"/>
              </a:ext>
            </a:extLst>
          </p:cNvPr>
          <p:cNvSpPr>
            <a:spLocks xmlns:a="http://schemas.openxmlformats.org/drawingml/2006/main" noGrp="1"/>
          </p:cNvSpPr>
          <p:nvPr/>
        </p:nvSpPr>
        <p:spPr>
          <a:xfrm xmlns:a="http://schemas.openxmlformats.org/drawingml/2006/main">
            <a:off x="533400" y="342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84B"/>
                </a:solidFill>
                <a:latin typeface="Helvetica Neue"/>
                <a:ea typeface="Helvetica Neue"/>
                <a:cs typeface="Helvetica Neue"/>
              </a:defRPr>
            </a:defPPr>
            <a:lvl1pPr>
              <a:defRPr sz="3300" b="1">
                <a:solidFill>
                  <a:srgbClr val="18384B"/>
                </a:solidFill>
                <a:latin typeface="Helvetica Neue"/>
                <a:ea typeface="Helvetica Neue"/>
                <a:cs typeface="Helvetica Neue"/>
              </a:defRPr>
            </a:lvl1pPr>
            <a:lvl2pPr>
              <a:defRPr sz="3300" b="1">
                <a:solidFill>
                  <a:srgbClr val="18384B"/>
                </a:solidFill>
                <a:latin typeface="Helvetica Neue"/>
                <a:ea typeface="Helvetica Neue"/>
                <a:cs typeface="Helvetica Neue"/>
              </a:defRPr>
            </a:lvl2pPr>
            <a:lvl3pPr>
              <a:defRPr sz="3300" b="1">
                <a:solidFill>
                  <a:srgbClr val="18384B"/>
                </a:solidFill>
                <a:latin typeface="Helvetica Neue"/>
                <a:ea typeface="Helvetica Neue"/>
                <a:cs typeface="Helvetica Neue"/>
              </a:defRPr>
            </a:lvl3pPr>
            <a:lvl4pPr>
              <a:defRPr sz="3300" b="1">
                <a:solidFill>
                  <a:srgbClr val="18384B"/>
                </a:solidFill>
                <a:latin typeface="Helvetica Neue"/>
                <a:ea typeface="Helvetica Neue"/>
                <a:cs typeface="Helvetica Neue"/>
              </a:defRPr>
            </a:lvl4pPr>
            <a:lvl5pPr>
              <a:defRPr sz="3300" b="1">
                <a:solidFill>
                  <a:srgbClr val="18384B"/>
                </a:solidFill>
                <a:latin typeface="Helvetica Neue"/>
                <a:ea typeface="Helvetica Neue"/>
                <a:cs typeface="Helvetica Neue"/>
              </a:defRPr>
            </a:lvl5pPr>
            <a:lvl6pPr>
              <a:defRPr sz="3300" b="1">
                <a:solidFill>
                  <a:srgbClr val="18384B"/>
                </a:solidFill>
                <a:latin typeface="Helvetica Neue"/>
                <a:ea typeface="Helvetica Neue"/>
                <a:cs typeface="Helvetica Neue"/>
              </a:defRPr>
            </a:lvl6pPr>
            <a:lvl7pPr>
              <a:defRPr sz="3300" b="1">
                <a:solidFill>
                  <a:srgbClr val="18384B"/>
                </a:solidFill>
                <a:latin typeface="Helvetica Neue"/>
                <a:ea typeface="Helvetica Neue"/>
                <a:cs typeface="Helvetica Neue"/>
              </a:defRPr>
            </a:lvl7pPr>
            <a:lvl8pPr>
              <a:defRPr sz="3300" b="1">
                <a:solidFill>
                  <a:srgbClr val="18384B"/>
                </a:solidFill>
                <a:latin typeface="Helvetica Neue"/>
                <a:ea typeface="Helvetica Neue"/>
                <a:cs typeface="Helvetica Neue"/>
              </a:defRPr>
            </a:lvl8pPr>
            <a:lvl9pPr>
              <a:defRPr sz="3300" b="1">
                <a:solidFill>
                  <a:srgbClr val="18384B"/>
                </a:solidFill>
                <a:latin typeface="Helvetica Neue"/>
                <a:ea typeface="Helvetica Neue"/>
                <a:cs typeface="Helvetica Neue"/>
              </a:defRPr>
            </a:lvl9pPr>
          </a:lstStyle>
          <a:p xmlns:a="http://schemas.openxmlformats.org/drawingml/2006/main">
            <a:pPr>
              <a:defRPr sz="3300" b="1">
                <a:solidFill>
                  <a:srgbClr val="18384B"/>
                </a:solidFill>
                <a:latin typeface="Helvetica Neue"/>
                <a:ea typeface="Helvetica Neue"/>
                <a:cs typeface="Helvetica Neue"/>
              </a:defRPr>
            </a:pPr>
            <a:r>
              <a:rPr sz="3300" b="1">
                <a:solidFill>
                  <a:srgbClr val="18384B"/>
                </a:solidFill>
                <a:latin typeface="Helvetica Neue"/>
                <a:ea typeface="Helvetica Neue"/>
                <a:cs typeface="Helvetica Neue"/>
              </a:rPr>
              <a:t>A four-week pilot tests the business outcome</a:t>
            </a:r>
          </a:p>
        </p:txBody>
      </p:sp>
      <p:graphicFrame>
        <p:nvGraphicFramePr>
          <p:cNvPr id="2" name="">
            <a:extLst xmlns:a="http://schemas.openxmlformats.org/drawingml/2006/main">
              <a:ext uri="{FF2B5EF4-FFF2-40B4-BE49-F238E27FC236}">
                <a16:creationId xmlns:a16="http://schemas.microsoft.com/office/drawing/2014/main" id="{AF0752FD-F6EA-4BBC-B389-62653E46016B}"/>
              </a:ext>
            </a:extLst>
          </p:cNvPr>
          <p:cNvGraphicFramePr/>
          <p:nvPr/>
        </p:nvGraphicFramePr>
        <p:xfrm>
          <a:off xmlns:a="http://schemas.openxmlformats.org/drawingml/2006/main" x="533400" y="1476375"/>
          <a:ext xmlns:a="http://schemas.openxmlformats.org/drawingml/2006/main" cx="11125200" cy="3524250"/>
        </p:xfrm>
        <a:graphic xmlns:a="http://schemas.openxmlformats.org/drawingml/2006/main">
          <a:graphicData uri="http://schemas.openxmlformats.org/drawingml/2006/table">
            <a:tbl>
              <a:tblPr/>
              <a:tblGrid>
                <a:gridCol w="3143250"/>
                <a:gridCol w="7981950"/>
              </a:tblGrid>
              <a:tr h="587375">
                <a:tc>
                  <a:txBody>
                    <a:bodyPr/>
                    <a:lstStyle/>
                    <a:p>
                      <a:r>
                        <a:rPr sz="1800" b="1">
                          <a:solidFill>
                            <a:srgbClr val="FFFFFF"/>
                          </a:solidFill>
                          <a:latin typeface="Helvetica Neue"/>
                          <a:ea typeface="Helvetica Neue"/>
                          <a:cs typeface="Helvetica Neue"/>
                        </a:rPr>
                        <a:t>Decision element</a:t>
                      </a:r>
                    </a:p>
                  </a:txBody>
                  <a:tcPr marL="91440" marR="91440" marT="45720" marB="45720">
                    <a:lnL w="9525">
                      <a:solidFill>
                        <a:srgbClr val="D7E0E6"/>
                      </a:solidFill>
                    </a:lnL>
                    <a:lnR w="9525">
                      <a:solidFill>
                        <a:srgbClr val="D7E0E6"/>
                      </a:solidFill>
                    </a:lnR>
                    <a:lnT w="9525">
                      <a:solidFill>
                        <a:srgbClr val="D7E0E6"/>
                      </a:solidFill>
                    </a:lnT>
                    <a:lnB w="9525">
                      <a:solidFill>
                        <a:srgbClr val="D7E0E6"/>
                      </a:solidFill>
                    </a:lnB>
                    <a:solidFill>
                      <a:srgbClr val="18384B"/>
                    </a:solidFill>
                  </a:tcPr>
                </a:tc>
                <a:tc>
                  <a:txBody>
                    <a:bodyPr/>
                    <a:lstStyle/>
                    <a:p>
                      <a:r>
                        <a:rPr sz="1800" b="1">
                          <a:solidFill>
                            <a:srgbClr val="FFFFFF"/>
                          </a:solidFill>
                          <a:latin typeface="Helvetica Neue"/>
                          <a:ea typeface="Helvetica Neue"/>
                          <a:cs typeface="Helvetica Neue"/>
                        </a:rPr>
                        <a:t>Proposed approach</a:t>
                      </a:r>
                    </a:p>
                  </a:txBody>
                  <a:tcPr marL="91440" marR="91440" marT="45720" marB="45720">
                    <a:lnR w="9525">
                      <a:solidFill>
                        <a:srgbClr val="D7E0E6"/>
                      </a:solidFill>
                    </a:lnR>
                    <a:lnT w="9525">
                      <a:solidFill>
                        <a:srgbClr val="D7E0E6"/>
                      </a:solidFill>
                    </a:lnT>
                    <a:lnB w="9525">
                      <a:solidFill>
                        <a:srgbClr val="D7E0E6"/>
                      </a:solidFill>
                    </a:lnB>
                    <a:solidFill>
                      <a:srgbClr val="18384B"/>
                    </a:solidFill>
                  </a:tcPr>
                </a:tc>
              </a:tr>
              <a:tr h="587375">
                <a:tc>
                  <a:txBody>
                    <a:bodyPr/>
                    <a:lstStyle/>
                    <a:p>
                      <a:r>
                        <a:rPr sz="1800" b="0">
                          <a:solidFill>
                            <a:srgbClr val="18384B"/>
                          </a:solidFill>
                          <a:latin typeface="Helvetica Neue"/>
                          <a:ea typeface="Helvetica Neue"/>
                          <a:cs typeface="Helvetica Neue"/>
                        </a:rPr>
                        <a:t>Primary outcome</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Net earnings / all driver working hours</a:t>
                      </a:r>
                    </a:p>
                  </a:txBody>
                  <a:tcPr marL="91440" marR="91440" marT="45720" marB="45720">
                    <a:lnR w="9525">
                      <a:solidFill>
                        <a:srgbClr val="D7E0E6"/>
                      </a:solidFill>
                    </a:lnR>
                    <a:lnB w="9525">
                      <a:solidFill>
                        <a:srgbClr val="D7E0E6"/>
                      </a:solidFill>
                    </a:lnB>
                    <a:solidFill>
                      <a:srgbClr val="FFFFFF"/>
                    </a:solidFill>
                  </a:tcPr>
                </a:tc>
              </a:tr>
              <a:tr h="587375">
                <a:tc>
                  <a:txBody>
                    <a:bodyPr/>
                    <a:lstStyle/>
                    <a:p>
                      <a:r>
                        <a:rPr sz="1800" b="0">
                          <a:solidFill>
                            <a:srgbClr val="18384B"/>
                          </a:solidFill>
                          <a:latin typeface="Helvetica Neue"/>
                          <a:ea typeface="Helvetica Neue"/>
                          <a:cs typeface="Helvetica Neue"/>
                        </a:rPr>
                        <a:t>Supporting measures</a:t>
                      </a:r>
                    </a:p>
                  </a:txBody>
                  <a:tcPr marL="91440" marR="91440" marT="45720" marB="45720">
                    <a:lnL w="9525">
                      <a:solidFill>
                        <a:srgbClr val="D7E0E6"/>
                      </a:solidFill>
                    </a:lnL>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Trips per working hour and empty miles</a:t>
                      </a:r>
                    </a:p>
                  </a:txBody>
                  <a:tcPr marL="91440" marR="91440" marT="45720" marB="45720">
                    <a:lnR w="9525">
                      <a:solidFill>
                        <a:srgbClr val="D7E0E6"/>
                      </a:solidFill>
                    </a:lnR>
                    <a:lnB w="9525">
                      <a:solidFill>
                        <a:srgbClr val="D7E0E6"/>
                      </a:solidFill>
                    </a:lnB>
                    <a:solidFill>
                      <a:srgbClr val="EEF4F5"/>
                    </a:solidFill>
                  </a:tcPr>
                </a:tc>
              </a:tr>
              <a:tr h="587375">
                <a:tc>
                  <a:txBody>
                    <a:bodyPr/>
                    <a:lstStyle/>
                    <a:p>
                      <a:r>
                        <a:rPr sz="1800" b="0">
                          <a:solidFill>
                            <a:srgbClr val="18384B"/>
                          </a:solidFill>
                          <a:latin typeface="Helvetica Neue"/>
                          <a:ea typeface="Helvetica Neue"/>
                          <a:cs typeface="Helvetica Neue"/>
                        </a:rPr>
                        <a:t>Service safeguard</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Passenger waits and coverage outside pilot zones</a:t>
                      </a:r>
                    </a:p>
                  </a:txBody>
                  <a:tcPr marL="91440" marR="91440" marT="45720" marB="45720">
                    <a:lnR w="9525">
                      <a:solidFill>
                        <a:srgbClr val="D7E0E6"/>
                      </a:solidFill>
                    </a:lnR>
                    <a:lnB w="9525">
                      <a:solidFill>
                        <a:srgbClr val="D7E0E6"/>
                      </a:solidFill>
                    </a:lnB>
                    <a:solidFill>
                      <a:srgbClr val="FFFFFF"/>
                    </a:solidFill>
                  </a:tcPr>
                </a:tc>
              </a:tr>
              <a:tr h="587375">
                <a:tc>
                  <a:txBody>
                    <a:bodyPr/>
                    <a:lstStyle/>
                    <a:p>
                      <a:r>
                        <a:rPr sz="1800" b="0">
                          <a:solidFill>
                            <a:srgbClr val="18384B"/>
                          </a:solidFill>
                          <a:latin typeface="Helvetica Neue"/>
                          <a:ea typeface="Helvetica Neue"/>
                          <a:cs typeface="Helvetica Neue"/>
                        </a:rPr>
                        <a:t>Comparison</a:t>
                      </a:r>
                    </a:p>
                  </a:txBody>
                  <a:tcPr marL="91440" marR="91440" marT="45720" marB="45720">
                    <a:lnL w="9525">
                      <a:solidFill>
                        <a:srgbClr val="D7E0E6"/>
                      </a:solidFill>
                    </a:lnL>
                    <a:lnR w="9525">
                      <a:solidFill>
                        <a:srgbClr val="D7E0E6"/>
                      </a:solidFill>
                    </a:lnR>
                    <a:lnB w="9525">
                      <a:solidFill>
                        <a:srgbClr val="D7E0E6"/>
                      </a:solidFill>
                    </a:lnB>
                    <a:solidFill>
                      <a:srgbClr val="EEF4F5"/>
                    </a:solidFill>
                  </a:tcPr>
                </a:tc>
                <a:tc>
                  <a:txBody>
                    <a:bodyPr/>
                    <a:lstStyle/>
                    <a:p>
                      <a:r>
                        <a:rPr sz="1800" b="0">
                          <a:solidFill>
                            <a:srgbClr val="18384B"/>
                          </a:solidFill>
                          <a:latin typeface="Helvetica Neue"/>
                          <a:ea typeface="Helvetica Neue"/>
                          <a:cs typeface="Helvetica Neue"/>
                        </a:rPr>
                        <a:t>Comparable shifts keeping the current schedule</a:t>
                      </a:r>
                    </a:p>
                  </a:txBody>
                  <a:tcPr marL="91440" marR="91440" marT="45720" marB="45720">
                    <a:lnR w="9525">
                      <a:solidFill>
                        <a:srgbClr val="D7E0E6"/>
                      </a:solidFill>
                    </a:lnR>
                    <a:lnB w="9525">
                      <a:solidFill>
                        <a:srgbClr val="D7E0E6"/>
                      </a:solidFill>
                    </a:lnB>
                    <a:solidFill>
                      <a:srgbClr val="EEF4F5"/>
                    </a:solidFill>
                  </a:tcPr>
                </a:tc>
              </a:tr>
              <a:tr h="587375">
                <a:tc>
                  <a:txBody>
                    <a:bodyPr/>
                    <a:lstStyle/>
                    <a:p>
                      <a:r>
                        <a:rPr sz="1800" b="0">
                          <a:solidFill>
                            <a:srgbClr val="18384B"/>
                          </a:solidFill>
                          <a:latin typeface="Helvetica Neue"/>
                          <a:ea typeface="Helvetica Neue"/>
                          <a:cs typeface="Helvetica Neue"/>
                        </a:rPr>
                        <a:t>Expansion gate</a:t>
                      </a:r>
                    </a:p>
                  </a:txBody>
                  <a:tcPr marL="91440" marR="91440" marT="45720" marB="45720">
                    <a:lnL w="9525">
                      <a:solidFill>
                        <a:srgbClr val="D7E0E6"/>
                      </a:solidFill>
                    </a:lnL>
                    <a:lnR w="9525">
                      <a:solidFill>
                        <a:srgbClr val="D7E0E6"/>
                      </a:solidFill>
                    </a:lnR>
                    <a:lnB w="9525">
                      <a:solidFill>
                        <a:srgbClr val="D7E0E6"/>
                      </a:solidFill>
                    </a:lnB>
                    <a:solidFill>
                      <a:srgbClr val="FFFFFF"/>
                    </a:solidFill>
                  </a:tcPr>
                </a:tc>
                <a:tc>
                  <a:txBody>
                    <a:bodyPr/>
                    <a:lstStyle/>
                    <a:p>
                      <a:r>
                        <a:rPr sz="1800" b="0">
                          <a:solidFill>
                            <a:srgbClr val="18384B"/>
                          </a:solidFill>
                          <a:latin typeface="Helvetica Neue"/>
                          <a:ea typeface="Helvetica Neue"/>
                          <a:cs typeface="Helvetica Neue"/>
                        </a:rPr>
                        <a:t>Agreed improvement threshold and service safeguards</a:t>
                      </a:r>
                    </a:p>
                  </a:txBody>
                  <a:tcPr marL="91440" marR="91440" marT="45720" marB="45720">
                    <a:lnR w="9525">
                      <a:solidFill>
                        <a:srgbClr val="D7E0E6"/>
                      </a:solidFill>
                    </a:lnR>
                    <a:lnB w="9525">
                      <a:solidFill>
                        <a:srgbClr val="D7E0E6"/>
                      </a:solidFill>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2D9D1E2-F402-44AF-8F7F-CA2CE5F4056F}"/>
              </a:ext>
            </a:extLst>
          </p:cNvPr>
          <p:cNvSpPr>
            <a:spLocks xmlns:a="http://schemas.openxmlformats.org/drawingml/2006/main" noGrp="1"/>
          </p:cNvSpPr>
          <p:nvPr/>
        </p:nvSpPr>
        <p:spPr>
          <a:xfrm xmlns:a="http://schemas.openxmlformats.org/drawingml/2006/main">
            <a:off x="533400" y="53149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84B"/>
                </a:solidFill>
                <a:latin typeface="Helvetica Neue"/>
                <a:ea typeface="Helvetica Neue"/>
                <a:cs typeface="Helvetica Neue"/>
              </a:defRPr>
            </a:defPPr>
            <a:lvl1pPr>
              <a:defRPr sz="2025" b="1">
                <a:solidFill>
                  <a:srgbClr val="18384B"/>
                </a:solidFill>
                <a:latin typeface="Helvetica Neue"/>
                <a:ea typeface="Helvetica Neue"/>
                <a:cs typeface="Helvetica Neue"/>
              </a:defRPr>
            </a:lvl1pPr>
            <a:lvl2pPr>
              <a:defRPr sz="2025" b="1">
                <a:solidFill>
                  <a:srgbClr val="18384B"/>
                </a:solidFill>
                <a:latin typeface="Helvetica Neue"/>
                <a:ea typeface="Helvetica Neue"/>
                <a:cs typeface="Helvetica Neue"/>
              </a:defRPr>
            </a:lvl2pPr>
            <a:lvl3pPr>
              <a:defRPr sz="2025" b="1">
                <a:solidFill>
                  <a:srgbClr val="18384B"/>
                </a:solidFill>
                <a:latin typeface="Helvetica Neue"/>
                <a:ea typeface="Helvetica Neue"/>
                <a:cs typeface="Helvetica Neue"/>
              </a:defRPr>
            </a:lvl3pPr>
            <a:lvl4pPr>
              <a:defRPr sz="2025" b="1">
                <a:solidFill>
                  <a:srgbClr val="18384B"/>
                </a:solidFill>
                <a:latin typeface="Helvetica Neue"/>
                <a:ea typeface="Helvetica Neue"/>
                <a:cs typeface="Helvetica Neue"/>
              </a:defRPr>
            </a:lvl4pPr>
            <a:lvl5pPr>
              <a:defRPr sz="2025" b="1">
                <a:solidFill>
                  <a:srgbClr val="18384B"/>
                </a:solidFill>
                <a:latin typeface="Helvetica Neue"/>
                <a:ea typeface="Helvetica Neue"/>
                <a:cs typeface="Helvetica Neue"/>
              </a:defRPr>
            </a:lvl5pPr>
            <a:lvl6pPr>
              <a:defRPr sz="2025" b="1">
                <a:solidFill>
                  <a:srgbClr val="18384B"/>
                </a:solidFill>
                <a:latin typeface="Helvetica Neue"/>
                <a:ea typeface="Helvetica Neue"/>
                <a:cs typeface="Helvetica Neue"/>
              </a:defRPr>
            </a:lvl6pPr>
            <a:lvl7pPr>
              <a:defRPr sz="2025" b="1">
                <a:solidFill>
                  <a:srgbClr val="18384B"/>
                </a:solidFill>
                <a:latin typeface="Helvetica Neue"/>
                <a:ea typeface="Helvetica Neue"/>
                <a:cs typeface="Helvetica Neue"/>
              </a:defRPr>
            </a:lvl7pPr>
            <a:lvl8pPr>
              <a:defRPr sz="2025" b="1">
                <a:solidFill>
                  <a:srgbClr val="18384B"/>
                </a:solidFill>
                <a:latin typeface="Helvetica Neue"/>
                <a:ea typeface="Helvetica Neue"/>
                <a:cs typeface="Helvetica Neue"/>
              </a:defRPr>
            </a:lvl8pPr>
            <a:lvl9pPr>
              <a:defRPr sz="2025" b="1">
                <a:solidFill>
                  <a:srgbClr val="18384B"/>
                </a:solidFill>
                <a:latin typeface="Helvetica Neue"/>
                <a:ea typeface="Helvetica Neue"/>
                <a:cs typeface="Helvetica Neue"/>
              </a:defRPr>
            </a:lvl9pPr>
          </a:lstStyle>
          <a:p xmlns:a="http://schemas.openxmlformats.org/drawingml/2006/main">
            <a:pPr>
              <a:defRPr sz="2025" b="1">
                <a:solidFill>
                  <a:srgbClr val="18384B"/>
                </a:solidFill>
                <a:latin typeface="Helvetica Neue"/>
                <a:ea typeface="Helvetica Neue"/>
                <a:cs typeface="Helvetica Neue"/>
              </a:defRPr>
            </a:pPr>
            <a:r>
              <a:rPr sz="2025" b="1">
                <a:solidFill>
                  <a:srgbClr val="18384B"/>
                </a:solidFill>
                <a:latin typeface="Helvetica Neue"/>
                <a:ea typeface="Helvetica Neue"/>
                <a:cs typeface="Helvetica Neue"/>
              </a:rPr>
              <a:t>Approval needed: operations owner, dispatch data, cost data</a:t>
            </a:r>
          </a:p>
          <a:p xmlns:a="http://schemas.openxmlformats.org/drawingml/2006/main">
            <a:pPr>
              <a:defRPr sz="2025" b="1">
                <a:solidFill>
                  <a:srgbClr val="18384B"/>
                </a:solidFill>
                <a:latin typeface="Helvetica Neue"/>
                <a:ea typeface="Helvetica Neue"/>
                <a:cs typeface="Helvetica Neue"/>
              </a:defRPr>
            </a:pPr>
            <a:r>
              <a:rPr sz="2025" b="1">
                <a:solidFill>
                  <a:srgbClr val="18384B"/>
                </a:solidFill>
                <a:latin typeface="Helvetica Neue"/>
                <a:ea typeface="Helvetica Neue"/>
                <a:cs typeface="Helvetica Neue"/>
              </a:rPr>
              <a:t>and a pilot protocol before changing coverage.</a:t>
            </a:r>
          </a:p>
        </p:txBody>
      </p:sp>
      <p:sp>
        <p:nvSpPr>
          <p:cNvPr id="4" name="">
            <a:extLst xmlns:a="http://schemas.openxmlformats.org/drawingml/2006/main">
              <a:ext uri="{FF2B5EF4-FFF2-40B4-BE49-F238E27FC236}">
                <a16:creationId xmlns:a16="http://schemas.microsoft.com/office/drawing/2014/main" id="{AB5681BA-5E01-480F-8EA1-E8F4D60184F9}"/>
              </a:ext>
            </a:extLst>
          </p:cNvPr>
          <p:cNvSpPr>
            <a:spLocks xmlns:a="http://schemas.openxmlformats.org/drawingml/2006/main" noGrp="1"/>
          </p:cNvSpPr>
          <p:nvPr/>
        </p:nvSpPr>
        <p:spPr>
          <a:xfrm xmlns:a="http://schemas.openxmlformats.org/drawingml/2006/main">
            <a:off x="533400" y="62293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471"/>
                </a:solidFill>
                <a:latin typeface="Helvetica Neue"/>
                <a:ea typeface="Helvetica Neue"/>
                <a:cs typeface="Helvetica Neue"/>
              </a:defRPr>
            </a:defPPr>
            <a:lvl1pPr>
              <a:defRPr sz="1350" b="0">
                <a:solidFill>
                  <a:srgbClr val="536471"/>
                </a:solidFill>
                <a:latin typeface="Helvetica Neue"/>
                <a:ea typeface="Helvetica Neue"/>
                <a:cs typeface="Helvetica Neue"/>
              </a:defRPr>
            </a:lvl1pPr>
            <a:lvl2pPr>
              <a:defRPr sz="1350" b="0">
                <a:solidFill>
                  <a:srgbClr val="536471"/>
                </a:solidFill>
                <a:latin typeface="Helvetica Neue"/>
                <a:ea typeface="Helvetica Neue"/>
                <a:cs typeface="Helvetica Neue"/>
              </a:defRPr>
            </a:lvl2pPr>
            <a:lvl3pPr>
              <a:defRPr sz="1350" b="0">
                <a:solidFill>
                  <a:srgbClr val="536471"/>
                </a:solidFill>
                <a:latin typeface="Helvetica Neue"/>
                <a:ea typeface="Helvetica Neue"/>
                <a:cs typeface="Helvetica Neue"/>
              </a:defRPr>
            </a:lvl3pPr>
            <a:lvl4pPr>
              <a:defRPr sz="1350" b="0">
                <a:solidFill>
                  <a:srgbClr val="536471"/>
                </a:solidFill>
                <a:latin typeface="Helvetica Neue"/>
                <a:ea typeface="Helvetica Neue"/>
                <a:cs typeface="Helvetica Neue"/>
              </a:defRPr>
            </a:lvl4pPr>
            <a:lvl5pPr>
              <a:defRPr sz="1350" b="0">
                <a:solidFill>
                  <a:srgbClr val="536471"/>
                </a:solidFill>
                <a:latin typeface="Helvetica Neue"/>
                <a:ea typeface="Helvetica Neue"/>
                <a:cs typeface="Helvetica Neue"/>
              </a:defRPr>
            </a:lvl5pPr>
            <a:lvl6pPr>
              <a:defRPr sz="1350" b="0">
                <a:solidFill>
                  <a:srgbClr val="536471"/>
                </a:solidFill>
                <a:latin typeface="Helvetica Neue"/>
                <a:ea typeface="Helvetica Neue"/>
                <a:cs typeface="Helvetica Neue"/>
              </a:defRPr>
            </a:lvl6pPr>
            <a:lvl7pPr>
              <a:defRPr sz="1350" b="0">
                <a:solidFill>
                  <a:srgbClr val="536471"/>
                </a:solidFill>
                <a:latin typeface="Helvetica Neue"/>
                <a:ea typeface="Helvetica Neue"/>
                <a:cs typeface="Helvetica Neue"/>
              </a:defRPr>
            </a:lvl7pPr>
            <a:lvl8pPr>
              <a:defRPr sz="1350" b="0">
                <a:solidFill>
                  <a:srgbClr val="536471"/>
                </a:solidFill>
                <a:latin typeface="Helvetica Neue"/>
                <a:ea typeface="Helvetica Neue"/>
                <a:cs typeface="Helvetica Neue"/>
              </a:defRPr>
            </a:lvl8pPr>
            <a:lvl9pPr>
              <a:defRPr sz="1350" b="0">
                <a:solidFill>
                  <a:srgbClr val="536471"/>
                </a:solidFill>
                <a:latin typeface="Helvetica Neue"/>
                <a:ea typeface="Helvetica Neue"/>
                <a:cs typeface="Helvetica Neue"/>
              </a:defRPr>
            </a:lvl9pPr>
          </a:lstStyle>
          <a:p xmlns:a="http://schemas.openxmlformats.org/drawingml/2006/main">
            <a:pPr>
              <a:defRPr sz="1350" b="0">
                <a:solidFill>
                  <a:srgbClr val="536471"/>
                </a:solidFill>
                <a:latin typeface="Helvetica Neue"/>
                <a:ea typeface="Helvetica Neue"/>
                <a:cs typeface="Helvetica Neue"/>
              </a:defRPr>
            </a:pPr>
            <a:r>
              <a:rPr sz="1350" b="0">
                <a:solidFill>
                  <a:srgbClr val="536471"/>
                </a:solidFill>
                <a:latin typeface="Helvetica Neue"/>
                <a:ea typeface="Helvetica Neue"/>
                <a:cs typeface="Helvetica Neue"/>
              </a:rPr>
              <a:t>Validate January patterns against recent months. No revenue or profit uplift has been demonstrated.</a:t>
            </a:r>
          </a:p>
        </p:txBody>
      </p:sp>
    </p:spTree>
    <p:extLst>
      <p:ext uri="{BB962C8B-B14F-4D97-AF65-F5344CB8AC3E}">
        <p14:creationId xmlns:p14="http://schemas.microsoft.com/office/powerpoint/2010/main" val="1919869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2026-10-27T19:04:13.8570000Z</dcterms:created>
  <dcterms:modified xsi:type="dcterms:W3CDTF">2026-10-27T19:04:13.8580000Z</dcterms:modified>
</coreProperties>
</file>